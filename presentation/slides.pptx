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79a1f8ae185e4739" /><Relationship Type="http://schemas.openxmlformats.org/package/2006/relationships/metadata/core-properties" Target="/docProps/core.xml" Id="Re94b157f513b4e90" /><Relationship Type="http://schemas.openxmlformats.org/officeDocument/2006/relationships/extended-properties" Target="/docProps/app.xml" Id="Rc7088f8786db4c13" /><Relationship Type="http://schemas.openxmlformats.org/officeDocument/2006/relationships/custom-properties" Target="/docProps/custom.xml" Id="Re453f5d6290641a8"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c24ff03525de4051"/>
  </p:notesMasterIdLst>
  <p:sldIdLst>
    <p:sldId id="256" r:id="Rebe553a0cd384d5b"/>
    <p:sldId id="257" r:id="Rf9d29e74151d428e"/>
    <p:sldId id="258" r:id="R4dbedf6e240541a8"/>
    <p:sldId id="259" r:id="R819e948986ab4af9"/>
    <p:sldId id="260" r:id="R31c7ed1496d9469a"/>
    <p:sldId id="261" r:id="R3733572eaa2e4cc0"/>
    <p:sldId id="262" r:id="R6a092bc25ed448a0"/>
    <p:sldId id="263" r:id="Ree0002875d094eaf"/>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ebe553a0cd384d5b" /><Relationship Type="http://schemas.openxmlformats.org/officeDocument/2006/relationships/slide" Target="/ppt/slides/slide2.xml" Id="Rf9d29e74151d428e" /><Relationship Type="http://schemas.openxmlformats.org/officeDocument/2006/relationships/slide" Target="/ppt/slides/slide3.xml" Id="R4dbedf6e240541a8" /><Relationship Type="http://schemas.openxmlformats.org/officeDocument/2006/relationships/slide" Target="/ppt/slides/slide4.xml" Id="R819e948986ab4af9" /><Relationship Type="http://schemas.openxmlformats.org/officeDocument/2006/relationships/slide" Target="/ppt/slides/slide5.xml" Id="R31c7ed1496d9469a" /><Relationship Type="http://schemas.openxmlformats.org/officeDocument/2006/relationships/slide" Target="/ppt/slides/slide6.xml" Id="R3733572eaa2e4cc0" /><Relationship Type="http://schemas.openxmlformats.org/officeDocument/2006/relationships/slide" Target="/ppt/slides/slide7.xml" Id="R6a092bc25ed448a0" /><Relationship Type="http://schemas.openxmlformats.org/officeDocument/2006/relationships/slide" Target="/ppt/slides/slide8.xml" Id="Ree0002875d094eaf" /><Relationship Type="http://schemas.openxmlformats.org/officeDocument/2006/relationships/notesMaster" Target="/ppt/notesMasters/notesMaster1.xml" Id="Rc24ff03525de40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c5650a9d43974762"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69d80fe9e9a0429e" /><Relationship Type="http://schemas.openxmlformats.org/officeDocument/2006/relationships/slide" Target="/ppt/slides/slide1.xml" Id="Rb4bd313d36814faf"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0e2ed1250237446a" /><Relationship Type="http://schemas.openxmlformats.org/officeDocument/2006/relationships/slide" Target="/ppt/slides/slide2.xml" Id="Ra071f860d8d144f9"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2d21b69f15544036" /><Relationship Type="http://schemas.openxmlformats.org/officeDocument/2006/relationships/slide" Target="/ppt/slides/slide3.xml" Id="R1584c67d024b496e"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16676f4bbfad4cb8" /><Relationship Type="http://schemas.openxmlformats.org/officeDocument/2006/relationships/slide" Target="/ppt/slides/slide4.xml" Id="R43c99398049846a5"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57cdd83a5eb34cd7" /><Relationship Type="http://schemas.openxmlformats.org/officeDocument/2006/relationships/slide" Target="/ppt/slides/slide5.xml" Id="Rf769bface81f4987"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9f11973cf4a54892" /><Relationship Type="http://schemas.openxmlformats.org/officeDocument/2006/relationships/slide" Target="/ppt/slides/slide6.xml" Id="R958133a986244e67"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7e99a42d60c740e7" /><Relationship Type="http://schemas.openxmlformats.org/officeDocument/2006/relationships/slide" Target="/ppt/slides/slide7.xml" Id="R425be566ec9b47b1"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dc0f6e5685a94b30" /><Relationship Type="http://schemas.openxmlformats.org/officeDocument/2006/relationships/slide" Target="/ppt/slides/slide8.xml" Id="R740edce0f3b640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Opening slide. Project: Cyber Fraud Network Analyzer. Team: TriByte. Track: AI. IBM Bob AI Hackathon.</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India had 95,000+ UPI fraud cases in FY2023 in Jharkhand alone. Investigators manually trace connections across transaction records, call logs, phone numbers, SIM cards, devices, and accused individuals. Most cases go unsolved due to lack of network visualization and relationship-mapping tools.</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platform takes raw investigation text and runs it through a 6-step pipeline: entity extraction (7 types), relationship mapping (4 types), fraud pattern detection (3 pattern types), interactive React Flow network graph, and finally generates a FIR-ready case brief. IBM watsonx.ai Granite-13B powers entity extraction when enabled, with a deterministic regex fallback ensuring reliability offline.</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Three-tier architecture. Frontend: React 18 with Vite and React Flow for the interactive network graph. Backend: FastAPI (Python 3.10+) with four service modules: ai_service (entity/relationship extraction), fraud_service (pattern detection), graph_service (graph construction), report_service (case brief generation). AI Layer: IBM watsonx.ai Granite-13B for enhanced extraction, with a deterministic regex fallback. The design is stateless — no database required.</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Six key features: (1) Entity extraction of 7 types using IBM watsonx.ai or regex fallback. (2) Relationship mapping with amounts and timestamps. (3) Three fraud pattern types with severity levels. (4) React Flow interactive network graph. (5) Deterministic fallback guarantees offline functionality. (6) Generates a structured FIR-ready case brief.</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Two IBM technologies used: (1) IBM Bob — primary development agent throughout the entire project. Used for architecture planning, all service layer implementations, entity extraction logic, React Flow integration, test suite, debugging, and documentation. (2) IBM watsonx.ai with Granite-13B model — optional runtime AI for enhanced entity and relationship extraction from unstructured investigation text. The app works fully without it via a deterministic regex fallback.</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Impact summary: Before — investigators spent weeks manually tracing connections across fragmented data. After — the platform delivers results in seconds. Key metrics: 7 entity types, 3 fraud patterns automatically detected, supports 4 input formats, and runs 100% offline with the deterministic fallback.</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Team TriByte: Priyal Jain (Team Lead, backend + watsonx.ai integration), Aakriti Ghimire (Frontend, React + React Flow), Khushi Ganatra (AI/ML, entity extraction + fraud pattern detection). Built with IBM Bob as the primary development agent throughout the hackathon.</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91bfa81ef14e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f1c94e78614e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719991b08949f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4bd8795a884e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4d343cc3c64c0c"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2adb6d484397488f"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3bf51c8d37564103" /><Relationship Type="http://schemas.openxmlformats.org/officeDocument/2006/relationships/notesSlide" Target="/ppt/notesSlides/notesSlide1.xml" Id="Re8504e1d08e74c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c5c4b0248148a8" /><Relationship Type="http://schemas.openxmlformats.org/officeDocument/2006/relationships/notesSlide" Target="/ppt/notesSlides/notesSlide2.xml" Id="R07b347ec36e94c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a6187ccc194910" /><Relationship Type="http://schemas.openxmlformats.org/officeDocument/2006/relationships/notesSlide" Target="/ppt/notesSlides/notesSlide3.xml" Id="Rbd23409f401947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a0e9321e594473" /><Relationship Type="http://schemas.openxmlformats.org/officeDocument/2006/relationships/notesSlide" Target="/ppt/notesSlides/notesSlide4.xml" Id="Rf62060b40ac449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3705f0dfb74876" /><Relationship Type="http://schemas.openxmlformats.org/officeDocument/2006/relationships/notesSlide" Target="/ppt/notesSlides/notesSlide5.xml" Id="R69ff40321def4b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13fc4b8a4d47bb" /><Relationship Type="http://schemas.openxmlformats.org/officeDocument/2006/relationships/notesSlide" Target="/ppt/notesSlides/notesSlide6.xml" Id="R8999d67d8c1845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f71f455b194779" /><Relationship Type="http://schemas.openxmlformats.org/officeDocument/2006/relationships/notesSlide" Target="/ppt/notesSlides/notesSlide7.xml" Id="R871478cb6a5b4e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389a71b4b94478" /><Relationship Type="http://schemas.openxmlformats.org/officeDocument/2006/relationships/notesSlide" Target="/ppt/notesSlides/notesSlide8.xml" Id="R373bf8f7b6504f73" /></Relationships>
</file>

<file path=ppt/slides/slide1.xml><?xml version="1.0" encoding="utf-8"?>
<p:sld xmlns:a="http://schemas.openxmlformats.org/drawingml/2006/main" xmlns:p="http://schemas.openxmlformats.org/presentationml/2006/main">
  <p:cSld>
    <p:bg>
      <p:bgPr>
        <a:solidFill xmlns:a="http://schemas.openxmlformats.org/drawingml/2006/main">
          <a:srgbClr val="0F3460"/>
        </a:solidFill>
      </p:bgPr>
    </p:bg>
    <p:spTree>
      <p:nvGrpSpPr>
        <p:cNvPr id="1" name=""/>
        <p:cNvGrpSpPr/>
        <p:nvPr/>
      </p:nvGrpSpPr>
      <p:grpSpPr/>
      <p:sp>
        <p:nvSpPr>
          <p:cNvPr id="100000" name="TopAccent"/>
          <p:cNvSpPr txBox="1"/>
          <p:nvPr/>
        </p:nvSpPr>
        <p:spPr>
          <a:xfrm>
            <a:off x="540000" y="360000"/>
            <a:ext cx="10800000" cy="432000"/>
          </a:xfrm>
          <a:prstGeom prst="rect">
            <a:avLst/>
          </a:prstGeom>
          <a:noFill/>
        </p:spPr>
        <p:txBody>
          <a:bodyPr/>
          <a:lstStyle/>
          <a:p>
            <a:pPr algn="ctr"/>
            <a:r>
              <a:rPr lang="en-US" sz="1600" b="0">
                <a:solidFill>
                  <a:srgbClr val="00B4D8"/>
                </a:solidFill>
              </a:rPr>
              <a:t>IBM Bob AI Hackathon  ·  AI Track</a:t>
            </a:r>
          </a:p>
        </p:txBody>
      </p:sp>
      <p:sp>
        <p:nvSpPr>
          <p:cNvPr id="100001" name="Title"/>
          <p:cNvSpPr txBox="1"/>
          <p:nvPr/>
        </p:nvSpPr>
        <p:spPr>
          <a:xfrm>
            <a:off x="540000" y="1080000"/>
            <a:ext cx="10800000" cy="1440000"/>
          </a:xfrm>
          <a:prstGeom prst="rect">
            <a:avLst/>
          </a:prstGeom>
          <a:noFill/>
        </p:spPr>
        <p:txBody>
          <a:bodyPr/>
          <a:lstStyle/>
          <a:p>
            <a:pPr algn="ctr"/>
            <a:r>
              <a:rPr lang="en-US" sz="4400" b="1">
                <a:solidFill>
                  <a:srgbClr val="FFFFFF"/>
                </a:solidFill>
              </a:rPr>
              <a:t>Cyber Fraud Network Analyzer</a:t>
            </a:r>
          </a:p>
        </p:txBody>
      </p:sp>
      <p:sp>
        <p:nvSpPr>
          <p:cNvPr id="100002" name="Subtitle"/>
          <p:cNvSpPr txBox="1"/>
          <p:nvPr/>
        </p:nvSpPr>
        <p:spPr>
          <a:xfrm>
            <a:off x="540000" y="2700000"/>
            <a:ext cx="10800000" cy="720000"/>
          </a:xfrm>
          <a:prstGeom prst="rect">
            <a:avLst/>
          </a:prstGeom>
          <a:noFill/>
        </p:spPr>
        <p:txBody>
          <a:bodyPr/>
          <a:lstStyle/>
          <a:p>
            <a:pPr algn="ctr"/>
            <a:r>
              <a:rPr lang="en-US" sz="2200" b="0">
                <a:solidFill>
                  <a:srgbClr val="00B4D8"/>
                </a:solidFill>
              </a:rPr>
              <a:t>Turning Fragmented Fraud Data into Connected Intelligence</a:t>
            </a:r>
          </a:p>
        </p:txBody>
      </p:sp>
      <p:sp>
        <p:nvSpPr>
          <p:cNvPr id="100003" name="Divider"/>
          <p:cNvSpPr txBox="1"/>
          <p:nvPr/>
        </p:nvSpPr>
        <p:spPr>
          <a:xfrm>
            <a:off x="3600000" y="3600000"/>
            <a:ext cx="4680000" cy="36000"/>
          </a:xfrm>
          <a:prstGeom prst="rect">
            <a:avLst/>
          </a:prstGeom>
          <a:solidFill>
            <a:srgbClr val="00B4D8"/>
          </a:solidFill>
        </p:spPr>
        <p:txBody>
          <a:bodyPr/>
          <a:lstStyle/>
          <a:p>
            <a:pPr algn="ctr"/>
            <a:endParaRPr lang="en-US" sz="1000">
              <a:solidFill>
                <a:srgbClr val="00B4D8"/>
              </a:solidFill>
            </a:endParaRPr>
          </a:p>
        </p:txBody>
      </p:sp>
      <p:sp>
        <p:nvSpPr>
          <p:cNvPr id="100004" name="TeamName"/>
          <p:cNvSpPr txBox="1"/>
          <p:nvPr/>
        </p:nvSpPr>
        <p:spPr>
          <a:xfrm>
            <a:off x="540000" y="3888000"/>
            <a:ext cx="10800000" cy="432000"/>
          </a:xfrm>
          <a:prstGeom prst="rect">
            <a:avLst/>
          </a:prstGeom>
          <a:noFill/>
        </p:spPr>
        <p:txBody>
          <a:bodyPr/>
          <a:lstStyle/>
          <a:p>
            <a:pPr algn="ctr"/>
            <a:r>
              <a:rPr lang="en-US" sz="2000" b="1">
                <a:solidFill>
                  <a:srgbClr val="FFFFFF"/>
                </a:solidFill>
              </a:rPr>
              <a:t>Team TriByte</a:t>
            </a:r>
          </a:p>
        </p:txBody>
      </p:sp>
      <p:sp>
        <p:nvSpPr>
          <p:cNvPr id="100005" name="Members"/>
          <p:cNvSpPr txBox="1"/>
          <p:nvPr/>
        </p:nvSpPr>
        <p:spPr>
          <a:xfrm>
            <a:off x="540000" y="4392000"/>
            <a:ext cx="10800000" cy="360000"/>
          </a:xfrm>
          <a:prstGeom prst="rect">
            <a:avLst/>
          </a:prstGeom>
          <a:noFill/>
        </p:spPr>
        <p:txBody>
          <a:bodyPr/>
          <a:lstStyle/>
          <a:p>
            <a:pPr algn="ctr"/>
            <a:r>
              <a:rPr lang="en-US" sz="1600" b="0">
                <a:solidFill>
                  <a:srgbClr val="B0BEC5"/>
                </a:solidFill>
              </a:rPr>
              <a:t>Priyal Jain  ·  Aakriti Ghimire  ·  Khushi Ganatra</a:t>
            </a:r>
          </a:p>
        </p:txBody>
      </p:sp>
    </p:spTree>
  </p:cSld>
</p:sld>
</file>

<file path=ppt/slides/slide2.xml><?xml version="1.0" encoding="utf-8"?>
<p:sld xmlns:a="http://schemas.openxmlformats.org/drawingml/2006/main" xmlns:p="http://schemas.openxmlformats.org/presentationml/2006/main">
  <p:cSld>
    <p:bg>
      <p:bgPr>
        <a:solidFill xmlns:a="http://schemas.openxmlformats.org/drawingml/2006/main">
          <a:srgbClr val="0F3460"/>
        </a:solidFill>
      </p:bgPr>
    </p:bg>
    <p:spTree>
      <p:nvGrpSpPr>
        <p:cNvPr id="1" name=""/>
        <p:cNvGrpSpPr/>
        <p:nvPr/>
      </p:nvGrpSpPr>
      <p:grpSpPr/>
      <p:sp>
        <p:nvSpPr>
          <p:cNvPr id="100006" name="SlideLabel"/>
          <p:cNvSpPr txBox="1"/>
          <p:nvPr/>
        </p:nvSpPr>
        <p:spPr>
          <a:xfrm>
            <a:off x="540000" y="288000"/>
            <a:ext cx="3600000" cy="288000"/>
          </a:xfrm>
          <a:prstGeom prst="rect">
            <a:avLst/>
          </a:prstGeom>
          <a:noFill/>
        </p:spPr>
        <p:txBody>
          <a:bodyPr/>
          <a:lstStyle/>
          <a:p>
            <a:r>
              <a:rPr lang="en-US" sz="1300" b="0">
                <a:solidFill>
                  <a:srgbClr val="00B4D8"/>
                </a:solidFill>
              </a:rPr>
              <a:t>02  /  PROBLEM</a:t>
            </a:r>
          </a:p>
        </p:txBody>
      </p:sp>
      <p:sp>
        <p:nvSpPr>
          <p:cNvPr id="100007" name="Title"/>
          <p:cNvSpPr txBox="1"/>
          <p:nvPr/>
        </p:nvSpPr>
        <p:spPr>
          <a:xfrm>
            <a:off x="540000" y="648000"/>
            <a:ext cx="10800000" cy="648000"/>
          </a:xfrm>
          <a:prstGeom prst="rect">
            <a:avLst/>
          </a:prstGeom>
          <a:noFill/>
        </p:spPr>
        <p:txBody>
          <a:bodyPr/>
          <a:lstStyle/>
          <a:p>
            <a:r>
              <a:rPr lang="en-US" sz="3600" b="1">
                <a:solidFill>
                  <a:srgbClr val="FFFFFF"/>
                </a:solidFill>
              </a:rPr>
              <a:t>The Problem</a:t>
            </a:r>
          </a:p>
        </p:txBody>
      </p:sp>
      <p:sp>
        <p:nvSpPr>
          <p:cNvPr id="100008" name="Headline"/>
          <p:cNvSpPr txBox="1"/>
          <p:nvPr/>
        </p:nvSpPr>
        <p:spPr>
          <a:xfrm>
            <a:off x="540000" y="1332000"/>
            <a:ext cx="10800000" cy="504000"/>
          </a:xfrm>
          <a:prstGeom prst="rect">
            <a:avLst/>
          </a:prstGeom>
          <a:noFill/>
        </p:spPr>
        <p:txBody>
          <a:bodyPr/>
          <a:lstStyle/>
          <a:p>
            <a:r>
              <a:rPr lang="en-US" sz="2000" b="0">
                <a:solidFill>
                  <a:srgbClr val="00B4D8"/>
                </a:solidFill>
              </a:rPr>
              <a:t>Cyber-fraud investigations are drowning in disconnected data</a:t>
            </a:r>
          </a:p>
        </p:txBody>
      </p:sp>
      <p:sp>
        <p:nvSpPr>
          <p:cNvPr id="100009" name="Stat1"/>
          <p:cNvSpPr txBox="1"/>
          <p:nvPr/>
        </p:nvSpPr>
        <p:spPr>
          <a:xfrm>
            <a:off x="540000" y="1980000"/>
            <a:ext cx="3240000" cy="1440000"/>
          </a:xfrm>
          <a:prstGeom prst="rect">
            <a:avLst/>
          </a:prstGeom>
          <a:solidFill>
            <a:srgbClr val="1A4A6E"/>
          </a:solidFill>
        </p:spPr>
        <p:txBody>
          <a:bodyPr/>
          <a:lstStyle/>
          <a:p>
            <a:pPr algn="ctr"/>
            <a:r>
              <a:rPr lang="en-US" sz="1600" b="0">
                <a:solidFill>
                  <a:srgbClr val="FFFFFF"/>
                </a:solidFill>
              </a:rPr>
              <a:t>95 000+</a:t>
            </a:r>
          </a:p>
          <a:p>
            <a:pPr algn="ctr"/>
            <a:r>
              <a:rPr lang="en-US" sz="1600" b="0">
                <a:solidFill>
                  <a:srgbClr val="FFFFFF"/>
                </a:solidFill>
              </a:rPr>
              <a:t>UPI fraud cases in FY2023</a:t>
            </a:r>
          </a:p>
          <a:p>
            <a:pPr algn="ctr"/>
            <a:r>
              <a:rPr lang="en-US" sz="1600" b="0">
                <a:solidFill>
                  <a:srgbClr val="FFFFFF"/>
                </a:solidFill>
              </a:rPr>
              <a:t>(Jharkhand alone)</a:t>
            </a:r>
          </a:p>
        </p:txBody>
      </p:sp>
      <p:sp>
        <p:nvSpPr>
          <p:cNvPr id="100010" name="Stat2"/>
          <p:cNvSpPr txBox="1"/>
          <p:nvPr/>
        </p:nvSpPr>
        <p:spPr>
          <a:xfrm>
            <a:off x="4248000" y="1980000"/>
            <a:ext cx="3240000" cy="1440000"/>
          </a:xfrm>
          <a:prstGeom prst="rect">
            <a:avLst/>
          </a:prstGeom>
          <a:solidFill>
            <a:srgbClr val="1A4A6E"/>
          </a:solidFill>
        </p:spPr>
        <p:txBody>
          <a:bodyPr/>
          <a:lstStyle/>
          <a:p>
            <a:pPr algn="ctr"/>
            <a:r>
              <a:rPr lang="en-US" sz="1600" b="0">
                <a:solidFill>
                  <a:srgbClr val="FFFFFF"/>
                </a:solidFill>
              </a:rPr>
              <a:t>WEEKS</a:t>
            </a:r>
          </a:p>
          <a:p>
            <a:pPr algn="ctr"/>
            <a:r>
              <a:rPr lang="en-US" sz="1600" b="0">
                <a:solidFill>
                  <a:srgbClr val="FFFFFF"/>
                </a:solidFill>
              </a:rPr>
              <a:t>of manual tracing across</a:t>
            </a:r>
          </a:p>
          <a:p>
            <a:pPr algn="ctr"/>
            <a:r>
              <a:rPr lang="en-US" sz="1600" b="0">
                <a:solidFill>
                  <a:srgbClr val="FFFFFF"/>
                </a:solidFill>
              </a:rPr>
              <a:t>phones · SIMs · accounts · devices</a:t>
            </a:r>
          </a:p>
        </p:txBody>
      </p:sp>
      <p:sp>
        <p:nvSpPr>
          <p:cNvPr id="100011" name="Stat3"/>
          <p:cNvSpPr txBox="1"/>
          <p:nvPr/>
        </p:nvSpPr>
        <p:spPr>
          <a:xfrm>
            <a:off x="7992000" y="1980000"/>
            <a:ext cx="3240000" cy="1440000"/>
          </a:xfrm>
          <a:prstGeom prst="rect">
            <a:avLst/>
          </a:prstGeom>
          <a:solidFill>
            <a:srgbClr val="1A4A6E"/>
          </a:solidFill>
        </p:spPr>
        <p:txBody>
          <a:bodyPr/>
          <a:lstStyle/>
          <a:p>
            <a:pPr algn="ctr"/>
            <a:r>
              <a:rPr lang="en-US" sz="1600" b="0">
                <a:solidFill>
                  <a:srgbClr val="FFFFFF"/>
                </a:solidFill>
              </a:rPr>
              <a:t>MOST CASES</a:t>
            </a:r>
          </a:p>
          <a:p>
            <a:pPr algn="ctr"/>
            <a:r>
              <a:rPr lang="en-US" sz="1600" b="0">
                <a:solidFill>
                  <a:srgbClr val="FFFFFF"/>
                </a:solidFill>
              </a:rPr>
              <a:t>go unsolved — a missed</a:t>
            </a:r>
          </a:p>
          <a:p>
            <a:pPr algn="ctr"/>
            <a:r>
              <a:rPr lang="en-US" sz="1600" b="0">
                <a:solidFill>
                  <a:srgbClr val="FFFFFF"/>
                </a:solidFill>
              </a:rPr>
              <a:t>link = a missed lead</a:t>
            </a:r>
          </a:p>
        </p:txBody>
      </p:sp>
      <p:sp>
        <p:nvSpPr>
          <p:cNvPr id="100012" name="PainCallout"/>
          <p:cNvSpPr txBox="1"/>
          <p:nvPr/>
        </p:nvSpPr>
        <p:spPr>
          <a:xfrm>
            <a:off x="540000" y="3672000"/>
            <a:ext cx="10800000" cy="648000"/>
          </a:xfrm>
          <a:prstGeom prst="rect">
            <a:avLst/>
          </a:prstGeom>
          <a:solidFill>
            <a:srgbClr val="F4A261"/>
          </a:solidFill>
        </p:spPr>
        <p:txBody>
          <a:bodyPr/>
          <a:lstStyle/>
          <a:p>
            <a:pPr algn="ctr"/>
            <a:r>
              <a:rPr lang="en-US" sz="1600" b="0">
                <a:solidFill>
                  <a:srgbClr val="1A1A2E"/>
                </a:solidFill>
              </a:rPr>
              <a:t>⚠  Investigators receive valuable data but have no tools to connect it. Patterns stay invisible. Cases stall.</a:t>
            </a:r>
          </a:p>
        </p:txBody>
      </p:sp>
    </p:spTree>
  </p:cSld>
</p:sld>
</file>

<file path=ppt/slides/slide3.xml><?xml version="1.0" encoding="utf-8"?>
<p:sld xmlns:a="http://schemas.openxmlformats.org/drawingml/2006/main" xmlns:p="http://schemas.openxmlformats.org/presentationml/2006/main">
  <p:cSld>
    <p:bg>
      <p:bgPr>
        <a:solidFill xmlns:a="http://schemas.openxmlformats.org/drawingml/2006/main">
          <a:srgbClr val="0F3460"/>
        </a:solidFill>
      </p:bgPr>
    </p:bg>
    <p:spTree>
      <p:nvGrpSpPr>
        <p:cNvPr id="1" name=""/>
        <p:cNvGrpSpPr/>
        <p:nvPr/>
      </p:nvGrpSpPr>
      <p:grpSpPr/>
      <p:sp>
        <p:nvSpPr>
          <p:cNvPr id="100013" name="SlideLabel"/>
          <p:cNvSpPr txBox="1"/>
          <p:nvPr/>
        </p:nvSpPr>
        <p:spPr>
          <a:xfrm>
            <a:off x="540000" y="288000"/>
            <a:ext cx="3600000" cy="288000"/>
          </a:xfrm>
          <a:prstGeom prst="rect">
            <a:avLst/>
          </a:prstGeom>
          <a:noFill/>
        </p:spPr>
        <p:txBody>
          <a:bodyPr/>
          <a:lstStyle/>
          <a:p>
            <a:r>
              <a:rPr lang="en-US" sz="1300" b="0">
                <a:solidFill>
                  <a:srgbClr val="00B4D8"/>
                </a:solidFill>
              </a:rPr>
              <a:t>03  /  SOLUTION</a:t>
            </a:r>
          </a:p>
        </p:txBody>
      </p:sp>
      <p:sp>
        <p:nvSpPr>
          <p:cNvPr id="100014" name="Title"/>
          <p:cNvSpPr txBox="1"/>
          <p:nvPr/>
        </p:nvSpPr>
        <p:spPr>
          <a:xfrm>
            <a:off x="540000" y="648000"/>
            <a:ext cx="10800000" cy="540000"/>
          </a:xfrm>
          <a:prstGeom prst="rect">
            <a:avLst/>
          </a:prstGeom>
          <a:noFill/>
        </p:spPr>
        <p:txBody>
          <a:bodyPr/>
          <a:lstStyle/>
          <a:p>
            <a:r>
              <a:rPr lang="en-US" sz="3600" b="1">
                <a:solidFill>
                  <a:srgbClr val="FFFFFF"/>
                </a:solidFill>
              </a:rPr>
              <a:t>The Solution</a:t>
            </a:r>
          </a:p>
        </p:txBody>
      </p:sp>
      <p:sp>
        <p:nvSpPr>
          <p:cNvPr id="100015" name="Tagline"/>
          <p:cNvSpPr txBox="1"/>
          <p:nvPr/>
        </p:nvSpPr>
        <p:spPr>
          <a:xfrm>
            <a:off x="540000" y="1188000"/>
            <a:ext cx="10800000" cy="360000"/>
          </a:xfrm>
          <a:prstGeom prst="rect">
            <a:avLst/>
          </a:prstGeom>
          <a:noFill/>
        </p:spPr>
        <p:txBody>
          <a:bodyPr/>
          <a:lstStyle/>
          <a:p>
            <a:pPr algn="ctr"/>
            <a:r>
              <a:rPr lang="en-US" sz="1700" b="0">
                <a:solidFill>
                  <a:srgbClr val="00B4D8"/>
                </a:solidFill>
              </a:rPr>
              <a:t>From raw investigation notes to a FIR-ready case brief — in seconds</a:t>
            </a:r>
          </a:p>
        </p:txBody>
      </p:sp>
      <p:sp>
        <p:nvSpPr>
          <p:cNvPr id="100016" name="Step1"/>
          <p:cNvSpPr txBox="1"/>
          <p:nvPr/>
        </p:nvSpPr>
        <p:spPr>
          <a:xfrm>
            <a:off x="180000" y="1800000"/>
            <a:ext cx="1512000" cy="1260000"/>
          </a:xfrm>
          <a:prstGeom prst="rect">
            <a:avLst/>
          </a:prstGeom>
          <a:solidFill>
            <a:srgbClr val="1A4A6E"/>
          </a:solidFill>
        </p:spPr>
        <p:txBody>
          <a:bodyPr/>
          <a:lstStyle/>
          <a:p>
            <a:pPr algn="ctr"/>
            <a:r>
              <a:rPr lang="en-US" sz="1300" b="0">
                <a:solidFill>
                  <a:srgbClr val="FFFFFF"/>
                </a:solidFill>
              </a:rPr>
              <a:t>1</a:t>
            </a:r>
          </a:p>
          <a:p>
            <a:pPr algn="ctr"/>
            <a:r>
              <a:rPr lang="en-US" sz="1300" b="0">
                <a:solidFill>
                  <a:srgbClr val="FFFFFF"/>
                </a:solidFill>
              </a:rPr>
              <a:t>Raw Text</a:t>
            </a:r>
          </a:p>
          <a:p>
            <a:pPr algn="ctr"/>
            <a:r>
              <a:rPr lang="en-US" sz="1300" b="0">
                <a:solidFill>
                  <a:srgbClr val="FFFFFF"/>
                </a:solidFill>
              </a:rPr>
              <a:t>(TXT · CSV · JSON)</a:t>
            </a:r>
          </a:p>
        </p:txBody>
      </p:sp>
      <p:sp>
        <p:nvSpPr>
          <p:cNvPr id="100017" name="Arrow1"/>
          <p:cNvSpPr txBox="1"/>
          <p:nvPr/>
        </p:nvSpPr>
        <p:spPr>
          <a:xfrm>
            <a:off x="1728000" y="2160000"/>
            <a:ext cx="288000" cy="432000"/>
          </a:xfrm>
          <a:prstGeom prst="rect">
            <a:avLst/>
          </a:prstGeom>
          <a:noFill/>
        </p:spPr>
        <p:txBody>
          <a:bodyPr/>
          <a:lstStyle/>
          <a:p>
            <a:pPr algn="ctr"/>
            <a:r>
              <a:rPr lang="en-US" sz="1800" b="1">
                <a:solidFill>
                  <a:srgbClr val="00B4D8"/>
                </a:solidFill>
              </a:rPr>
              <a:t>→</a:t>
            </a:r>
          </a:p>
        </p:txBody>
      </p:sp>
      <p:sp>
        <p:nvSpPr>
          <p:cNvPr id="100018" name="Step2"/>
          <p:cNvSpPr txBox="1"/>
          <p:nvPr/>
        </p:nvSpPr>
        <p:spPr>
          <a:xfrm>
            <a:off x="2052000" y="1800000"/>
            <a:ext cx="1512000" cy="1260000"/>
          </a:xfrm>
          <a:prstGeom prst="rect">
            <a:avLst/>
          </a:prstGeom>
          <a:solidFill>
            <a:srgbClr val="1A4A6E"/>
          </a:solidFill>
        </p:spPr>
        <p:txBody>
          <a:bodyPr/>
          <a:lstStyle/>
          <a:p>
            <a:pPr algn="ctr"/>
            <a:r>
              <a:rPr lang="en-US" sz="1300" b="0">
                <a:solidFill>
                  <a:srgbClr val="FFFFFF"/>
                </a:solidFill>
              </a:rPr>
              <a:t>2</a:t>
            </a:r>
          </a:p>
          <a:p>
            <a:pPr algn="ctr"/>
            <a:r>
              <a:rPr lang="en-US" sz="1300" b="0">
                <a:solidFill>
                  <a:srgbClr val="FFFFFF"/>
                </a:solidFill>
              </a:rPr>
              <a:t>Entity</a:t>
            </a:r>
          </a:p>
          <a:p>
            <a:pPr algn="ctr"/>
            <a:r>
              <a:rPr lang="en-US" sz="1300" b="0">
                <a:solidFill>
                  <a:srgbClr val="FFFFFF"/>
                </a:solidFill>
              </a:rPr>
              <a:t>Extraction</a:t>
            </a:r>
          </a:p>
          <a:p>
            <a:pPr algn="ctr"/>
            <a:r>
              <a:rPr lang="en-US" sz="1300" b="0">
                <a:solidFill>
                  <a:srgbClr val="FFFFFF"/>
                </a:solidFill>
              </a:rPr>
              <a:t>7 types</a:t>
            </a:r>
          </a:p>
        </p:txBody>
      </p:sp>
      <p:sp>
        <p:nvSpPr>
          <p:cNvPr id="100019" name="Arrow2"/>
          <p:cNvSpPr txBox="1"/>
          <p:nvPr/>
        </p:nvSpPr>
        <p:spPr>
          <a:xfrm>
            <a:off x="3600000" y="2160000"/>
            <a:ext cx="288000" cy="432000"/>
          </a:xfrm>
          <a:prstGeom prst="rect">
            <a:avLst/>
          </a:prstGeom>
          <a:noFill/>
        </p:spPr>
        <p:txBody>
          <a:bodyPr/>
          <a:lstStyle/>
          <a:p>
            <a:pPr algn="ctr"/>
            <a:r>
              <a:rPr lang="en-US" sz="1800" b="1">
                <a:solidFill>
                  <a:srgbClr val="00B4D8"/>
                </a:solidFill>
              </a:rPr>
              <a:t>→</a:t>
            </a:r>
          </a:p>
        </p:txBody>
      </p:sp>
      <p:sp>
        <p:nvSpPr>
          <p:cNvPr id="100020" name="Step3"/>
          <p:cNvSpPr txBox="1"/>
          <p:nvPr/>
        </p:nvSpPr>
        <p:spPr>
          <a:xfrm>
            <a:off x="3960000" y="1800000"/>
            <a:ext cx="1512000" cy="1260000"/>
          </a:xfrm>
          <a:prstGeom prst="rect">
            <a:avLst/>
          </a:prstGeom>
          <a:solidFill>
            <a:srgbClr val="1A4A6E"/>
          </a:solidFill>
        </p:spPr>
        <p:txBody>
          <a:bodyPr/>
          <a:lstStyle/>
          <a:p>
            <a:pPr algn="ctr"/>
            <a:r>
              <a:rPr lang="en-US" sz="1300" b="0">
                <a:solidFill>
                  <a:srgbClr val="FFFFFF"/>
                </a:solidFill>
              </a:rPr>
              <a:t>3</a:t>
            </a:r>
          </a:p>
          <a:p>
            <a:pPr algn="ctr"/>
            <a:r>
              <a:rPr lang="en-US" sz="1300" b="0">
                <a:solidFill>
                  <a:srgbClr val="FFFFFF"/>
                </a:solidFill>
              </a:rPr>
              <a:t>Relationship</a:t>
            </a:r>
          </a:p>
          <a:p>
            <a:pPr algn="ctr"/>
            <a:r>
              <a:rPr lang="en-US" sz="1300" b="0">
                <a:solidFill>
                  <a:srgbClr val="FFFFFF"/>
                </a:solidFill>
              </a:rPr>
              <a:t>Mapping</a:t>
            </a:r>
          </a:p>
          <a:p>
            <a:pPr algn="ctr"/>
            <a:r>
              <a:rPr lang="en-US" sz="1300" b="0">
                <a:solidFill>
                  <a:srgbClr val="FFFFFF"/>
                </a:solidFill>
              </a:rPr>
              <a:t>4 types</a:t>
            </a:r>
          </a:p>
        </p:txBody>
      </p:sp>
      <p:sp>
        <p:nvSpPr>
          <p:cNvPr id="100021" name="Arrow3"/>
          <p:cNvSpPr txBox="1"/>
          <p:nvPr/>
        </p:nvSpPr>
        <p:spPr>
          <a:xfrm>
            <a:off x="5508000" y="2160000"/>
            <a:ext cx="288000" cy="432000"/>
          </a:xfrm>
          <a:prstGeom prst="rect">
            <a:avLst/>
          </a:prstGeom>
          <a:noFill/>
        </p:spPr>
        <p:txBody>
          <a:bodyPr/>
          <a:lstStyle/>
          <a:p>
            <a:pPr algn="ctr"/>
            <a:r>
              <a:rPr lang="en-US" sz="1800" b="1">
                <a:solidFill>
                  <a:srgbClr val="00B4D8"/>
                </a:solidFill>
              </a:rPr>
              <a:t>→</a:t>
            </a:r>
          </a:p>
        </p:txBody>
      </p:sp>
      <p:sp>
        <p:nvSpPr>
          <p:cNvPr id="100022" name="Step4"/>
          <p:cNvSpPr txBox="1"/>
          <p:nvPr/>
        </p:nvSpPr>
        <p:spPr>
          <a:xfrm>
            <a:off x="5832000" y="1800000"/>
            <a:ext cx="1512000" cy="1260000"/>
          </a:xfrm>
          <a:prstGeom prst="rect">
            <a:avLst/>
          </a:prstGeom>
          <a:solidFill>
            <a:srgbClr val="16213E"/>
          </a:solidFill>
        </p:spPr>
        <p:txBody>
          <a:bodyPr/>
          <a:lstStyle/>
          <a:p>
            <a:pPr algn="ctr"/>
            <a:r>
              <a:rPr lang="en-US" sz="1300" b="0">
                <a:solidFill>
                  <a:srgbClr val="FFFFFF"/>
                </a:solidFill>
              </a:rPr>
              <a:t>4</a:t>
            </a:r>
          </a:p>
          <a:p>
            <a:pPr algn="ctr"/>
            <a:r>
              <a:rPr lang="en-US" sz="1300" b="0">
                <a:solidFill>
                  <a:srgbClr val="FFFFFF"/>
                </a:solidFill>
              </a:rPr>
              <a:t>Fraud Pattern</a:t>
            </a:r>
          </a:p>
          <a:p>
            <a:pPr algn="ctr"/>
            <a:r>
              <a:rPr lang="en-US" sz="1300" b="0">
                <a:solidFill>
                  <a:srgbClr val="FFFFFF"/>
                </a:solidFill>
              </a:rPr>
              <a:t>Detection</a:t>
            </a:r>
          </a:p>
          <a:p>
            <a:pPr algn="ctr"/>
            <a:r>
              <a:rPr lang="en-US" sz="1300" b="0">
                <a:solidFill>
                  <a:srgbClr val="FFFFFF"/>
                </a:solidFill>
              </a:rPr>
              <a:t>3 patterns</a:t>
            </a:r>
          </a:p>
        </p:txBody>
      </p:sp>
      <p:sp>
        <p:nvSpPr>
          <p:cNvPr id="100023" name="Arrow4"/>
          <p:cNvSpPr txBox="1"/>
          <p:nvPr/>
        </p:nvSpPr>
        <p:spPr>
          <a:xfrm>
            <a:off x="7380000" y="2160000"/>
            <a:ext cx="288000" cy="432000"/>
          </a:xfrm>
          <a:prstGeom prst="rect">
            <a:avLst/>
          </a:prstGeom>
          <a:noFill/>
        </p:spPr>
        <p:txBody>
          <a:bodyPr/>
          <a:lstStyle/>
          <a:p>
            <a:pPr algn="ctr"/>
            <a:r>
              <a:rPr lang="en-US" sz="1800" b="1">
                <a:solidFill>
                  <a:srgbClr val="00B4D8"/>
                </a:solidFill>
              </a:rPr>
              <a:t>→</a:t>
            </a:r>
          </a:p>
        </p:txBody>
      </p:sp>
      <p:sp>
        <p:nvSpPr>
          <p:cNvPr id="100024" name="Step5"/>
          <p:cNvSpPr txBox="1"/>
          <p:nvPr/>
        </p:nvSpPr>
        <p:spPr>
          <a:xfrm>
            <a:off x="7704000" y="1800000"/>
            <a:ext cx="1512000" cy="1260000"/>
          </a:xfrm>
          <a:prstGeom prst="rect">
            <a:avLst/>
          </a:prstGeom>
          <a:solidFill>
            <a:srgbClr val="1A4A6E"/>
          </a:solidFill>
        </p:spPr>
        <p:txBody>
          <a:bodyPr/>
          <a:lstStyle/>
          <a:p>
            <a:pPr algn="ctr"/>
            <a:r>
              <a:rPr lang="en-US" sz="1300" b="0">
                <a:solidFill>
                  <a:srgbClr val="FFFFFF"/>
                </a:solidFill>
              </a:rPr>
              <a:t>5</a:t>
            </a:r>
          </a:p>
          <a:p>
            <a:pPr algn="ctr"/>
            <a:r>
              <a:rPr lang="en-US" sz="1300" b="0">
                <a:solidFill>
                  <a:srgbClr val="FFFFFF"/>
                </a:solidFill>
              </a:rPr>
              <a:t>Network</a:t>
            </a:r>
          </a:p>
          <a:p>
            <a:pPr algn="ctr"/>
            <a:r>
              <a:rPr lang="en-US" sz="1300" b="0">
                <a:solidFill>
                  <a:srgbClr val="FFFFFF"/>
                </a:solidFill>
              </a:rPr>
              <a:t>Graph</a:t>
            </a:r>
          </a:p>
          <a:p>
            <a:pPr algn="ctr"/>
            <a:r>
              <a:rPr lang="en-US" sz="1300" b="0">
                <a:solidFill>
                  <a:srgbClr val="FFFFFF"/>
                </a:solidFill>
              </a:rPr>
              <a:t>(React Flow)</a:t>
            </a:r>
          </a:p>
        </p:txBody>
      </p:sp>
      <p:sp>
        <p:nvSpPr>
          <p:cNvPr id="100025" name="Arrow5"/>
          <p:cNvSpPr txBox="1"/>
          <p:nvPr/>
        </p:nvSpPr>
        <p:spPr>
          <a:xfrm>
            <a:off x="9252000" y="2160000"/>
            <a:ext cx="288000" cy="432000"/>
          </a:xfrm>
          <a:prstGeom prst="rect">
            <a:avLst/>
          </a:prstGeom>
          <a:noFill/>
        </p:spPr>
        <p:txBody>
          <a:bodyPr/>
          <a:lstStyle/>
          <a:p>
            <a:pPr algn="ctr"/>
            <a:r>
              <a:rPr lang="en-US" sz="1800" b="1">
                <a:solidFill>
                  <a:srgbClr val="00B4D8"/>
                </a:solidFill>
              </a:rPr>
              <a:t>→</a:t>
            </a:r>
          </a:p>
        </p:txBody>
      </p:sp>
      <p:sp>
        <p:nvSpPr>
          <p:cNvPr id="100026" name="Step6"/>
          <p:cNvSpPr txBox="1"/>
          <p:nvPr/>
        </p:nvSpPr>
        <p:spPr>
          <a:xfrm>
            <a:off x="9576000" y="1800000"/>
            <a:ext cx="1512000" cy="1260000"/>
          </a:xfrm>
          <a:prstGeom prst="rect">
            <a:avLst/>
          </a:prstGeom>
          <a:solidFill>
            <a:srgbClr val="00B4D8"/>
          </a:solidFill>
        </p:spPr>
        <p:txBody>
          <a:bodyPr/>
          <a:lstStyle/>
          <a:p>
            <a:pPr algn="ctr"/>
            <a:r>
              <a:rPr lang="en-US" sz="1300" b="0">
                <a:solidFill>
                  <a:srgbClr val="1A1A2E"/>
                </a:solidFill>
              </a:rPr>
              <a:t>6</a:t>
            </a:r>
          </a:p>
          <a:p>
            <a:pPr algn="ctr"/>
            <a:r>
              <a:rPr lang="en-US" sz="1300" b="0">
                <a:solidFill>
                  <a:srgbClr val="1A1A2E"/>
                </a:solidFill>
              </a:rPr>
              <a:t>FIR-Ready</a:t>
            </a:r>
          </a:p>
          <a:p>
            <a:pPr algn="ctr"/>
            <a:r>
              <a:rPr lang="en-US" sz="1300" b="0">
                <a:solidFill>
                  <a:srgbClr val="1A1A2E"/>
                </a:solidFill>
              </a:rPr>
              <a:t>Case Brief</a:t>
            </a:r>
          </a:p>
        </p:txBody>
      </p:sp>
      <p:sp>
        <p:nvSpPr>
          <p:cNvPr id="100027" name="IBMNote"/>
          <p:cNvSpPr txBox="1"/>
          <p:nvPr/>
        </p:nvSpPr>
        <p:spPr>
          <a:xfrm>
            <a:off x="540000" y="3600000"/>
            <a:ext cx="10800000" cy="360000"/>
          </a:xfrm>
          <a:prstGeom prst="rect">
            <a:avLst/>
          </a:prstGeom>
          <a:noFill/>
        </p:spPr>
        <p:txBody>
          <a:bodyPr/>
          <a:lstStyle/>
          <a:p>
            <a:pPr algn="ctr"/>
            <a:r>
              <a:rPr lang="en-US" sz="1300" b="0">
                <a:solidFill>
                  <a:srgbClr val="B0BEC5"/>
                </a:solidFill>
              </a:rPr>
              <a:t>Entity extraction powered by IBM watsonx.ai (Granite-13B)  ·  Deterministic fallback for offline reliability</a:t>
            </a:r>
          </a:p>
        </p:txBody>
      </p:sp>
    </p:spTree>
  </p:cSld>
</p:sld>
</file>

<file path=ppt/slides/slide4.xml><?xml version="1.0" encoding="utf-8"?>
<p:sld xmlns:a="http://schemas.openxmlformats.org/drawingml/2006/main" xmlns:p="http://schemas.openxmlformats.org/presentationml/2006/main">
  <p:cSld>
    <p:bg>
      <p:bgPr>
        <a:solidFill xmlns:a="http://schemas.openxmlformats.org/drawingml/2006/main">
          <a:srgbClr val="0F3460"/>
        </a:solidFill>
      </p:bgPr>
    </p:bg>
    <p:spTree>
      <p:nvGrpSpPr>
        <p:cNvPr id="1" name=""/>
        <p:cNvGrpSpPr/>
        <p:nvPr/>
      </p:nvGrpSpPr>
      <p:grpSpPr/>
      <p:sp>
        <p:nvSpPr>
          <p:cNvPr id="100028" name="SlideLabel"/>
          <p:cNvSpPr txBox="1"/>
          <p:nvPr/>
        </p:nvSpPr>
        <p:spPr>
          <a:xfrm>
            <a:off x="540000" y="288000"/>
            <a:ext cx="4320000" cy="288000"/>
          </a:xfrm>
          <a:prstGeom prst="rect">
            <a:avLst/>
          </a:prstGeom>
          <a:noFill/>
        </p:spPr>
        <p:txBody>
          <a:bodyPr/>
          <a:lstStyle/>
          <a:p>
            <a:r>
              <a:rPr lang="en-US" sz="1300" b="0">
                <a:solidFill>
                  <a:srgbClr val="00B4D8"/>
                </a:solidFill>
              </a:rPr>
              <a:t>04  /  ARCHITECTURE</a:t>
            </a:r>
          </a:p>
        </p:txBody>
      </p:sp>
      <p:sp>
        <p:nvSpPr>
          <p:cNvPr id="100029" name="Title"/>
          <p:cNvSpPr txBox="1"/>
          <p:nvPr/>
        </p:nvSpPr>
        <p:spPr>
          <a:xfrm>
            <a:off x="540000" y="648000"/>
            <a:ext cx="10800000" cy="540000"/>
          </a:xfrm>
          <a:prstGeom prst="rect">
            <a:avLst/>
          </a:prstGeom>
          <a:noFill/>
        </p:spPr>
        <p:txBody>
          <a:bodyPr/>
          <a:lstStyle/>
          <a:p>
            <a:r>
              <a:rPr lang="en-US" sz="3600" b="1">
                <a:solidFill>
                  <a:srgbClr val="FFFFFF"/>
                </a:solidFill>
              </a:rPr>
              <a:t>Architecture</a:t>
            </a:r>
          </a:p>
        </p:txBody>
      </p:sp>
      <p:sp>
        <p:nvSpPr>
          <p:cNvPr id="100030" name="TierFE"/>
          <p:cNvSpPr txBox="1"/>
          <p:nvPr/>
        </p:nvSpPr>
        <p:spPr>
          <a:xfrm>
            <a:off x="360000" y="1368000"/>
            <a:ext cx="3240000" cy="2880000"/>
          </a:xfrm>
          <a:prstGeom prst="rect">
            <a:avLst/>
          </a:prstGeom>
          <a:solidFill>
            <a:srgbClr val="1A4A6E"/>
          </a:solidFill>
        </p:spPr>
        <p:txBody>
          <a:bodyPr/>
          <a:lstStyle/>
          <a:p>
            <a:pPr algn="ctr"/>
            <a:r>
              <a:rPr lang="en-US" sz="1500" b="0">
                <a:solidFill>
                  <a:srgbClr val="FFFFFF"/>
                </a:solidFill>
              </a:rPr>
              <a:t>FRONTEND</a:t>
            </a:r>
          </a:p>
          <a:p>
            <a:pPr algn="ctr"/>
            <a:r>
              <a:rPr lang="en-US" sz="1500" b="0">
                <a:solidFill>
                  <a:srgbClr val="FFFFFF"/>
                </a:solidFill>
              </a:rPr>
              <a:t>React 18 + Vite + React Flow</a:t>
            </a:r>
          </a:p>
          <a:p>
            <a:pPr algn="ctr"/>
            <a:r>
              <a:rPr lang="en-US" sz="1500" b="0">
                <a:solidFill>
                  <a:srgbClr val="FFFFFF"/>
                </a:solidFill>
              </a:rPr>
              <a:t/>
            </a:r>
          </a:p>
          <a:p>
            <a:pPr algn="ctr"/>
            <a:r>
              <a:rPr lang="en-US" sz="1500" b="0">
                <a:solidFill>
                  <a:srgbClr val="FFFFFF"/>
                </a:solidFill>
              </a:rPr>
              <a:t>Investigation form</a:t>
            </a:r>
          </a:p>
          <a:p>
            <a:pPr algn="ctr"/>
            <a:r>
              <a:rPr lang="en-US" sz="1500" b="0">
                <a:solidFill>
                  <a:srgbClr val="FFFFFF"/>
                </a:solidFill>
              </a:rPr>
              <a:t>Network graph (drag / zoom)</a:t>
            </a:r>
          </a:p>
          <a:p>
            <a:pPr algn="ctr"/>
            <a:r>
              <a:rPr lang="en-US" sz="1500" b="0">
                <a:solidFill>
                  <a:srgbClr val="FFFFFF"/>
                </a:solidFill>
              </a:rPr>
              <a:t>Entity details panel</a:t>
            </a:r>
          </a:p>
          <a:p>
            <a:pPr algn="ctr"/>
            <a:r>
              <a:rPr lang="en-US" sz="1500" b="0">
                <a:solidFill>
                  <a:srgbClr val="FFFFFF"/>
                </a:solidFill>
              </a:rPr>
              <a:t>FIR case brief view</a:t>
            </a:r>
          </a:p>
        </p:txBody>
      </p:sp>
      <p:sp>
        <p:nvSpPr>
          <p:cNvPr id="100031" name="RestArrow"/>
          <p:cNvSpPr txBox="1"/>
          <p:nvPr/>
        </p:nvSpPr>
        <p:spPr>
          <a:xfrm>
            <a:off x="3708000" y="2448000"/>
            <a:ext cx="1440000" cy="540000"/>
          </a:xfrm>
          <a:prstGeom prst="rect">
            <a:avLst/>
          </a:prstGeom>
          <a:noFill/>
        </p:spPr>
        <p:txBody>
          <a:bodyPr/>
          <a:lstStyle/>
          <a:p>
            <a:pPr algn="ctr"/>
            <a:r>
              <a:rPr lang="en-US" sz="1200" b="0">
                <a:solidFill>
                  <a:srgbClr val="00B4D8"/>
                </a:solidFill>
              </a:rPr>
              <a:t>REST API</a:t>
            </a:r>
          </a:p>
          <a:p>
            <a:pPr algn="ctr"/>
            <a:r>
              <a:rPr lang="en-US" sz="1200" b="0">
                <a:solidFill>
                  <a:srgbClr val="00B4D8"/>
                </a:solidFill>
              </a:rPr>
              <a:t>POST /api/cases/analyze</a:t>
            </a:r>
          </a:p>
        </p:txBody>
      </p:sp>
      <p:sp>
        <p:nvSpPr>
          <p:cNvPr id="100032" name="TierBE"/>
          <p:cNvSpPr txBox="1"/>
          <p:nvPr/>
        </p:nvSpPr>
        <p:spPr>
          <a:xfrm>
            <a:off x="5220000" y="1368000"/>
            <a:ext cx="3240000" cy="2880000"/>
          </a:xfrm>
          <a:prstGeom prst="rect">
            <a:avLst/>
          </a:prstGeom>
          <a:solidFill>
            <a:srgbClr val="1A4A6E"/>
          </a:solidFill>
        </p:spPr>
        <p:txBody>
          <a:bodyPr/>
          <a:lstStyle/>
          <a:p>
            <a:pPr algn="ctr"/>
            <a:r>
              <a:rPr lang="en-US" sz="1500" b="0">
                <a:solidFill>
                  <a:srgbClr val="FFFFFF"/>
                </a:solidFill>
              </a:rPr>
              <a:t>BACKEND</a:t>
            </a:r>
          </a:p>
          <a:p>
            <a:pPr algn="ctr"/>
            <a:r>
              <a:rPr lang="en-US" sz="1500" b="0">
                <a:solidFill>
                  <a:srgbClr val="FFFFFF"/>
                </a:solidFill>
              </a:rPr>
              <a:t>FastAPI + Python 3.10+</a:t>
            </a:r>
          </a:p>
          <a:p>
            <a:pPr algn="ctr"/>
            <a:r>
              <a:rPr lang="en-US" sz="1500" b="0">
                <a:solidFill>
                  <a:srgbClr val="FFFFFF"/>
                </a:solidFill>
              </a:rPr>
              <a:t/>
            </a:r>
          </a:p>
          <a:p>
            <a:pPr algn="ctr"/>
            <a:r>
              <a:rPr lang="en-US" sz="1500" b="0">
                <a:solidFill>
                  <a:srgbClr val="FFFFFF"/>
                </a:solidFill>
              </a:rPr>
              <a:t>ai_service.py</a:t>
            </a:r>
          </a:p>
          <a:p>
            <a:pPr algn="ctr"/>
            <a:r>
              <a:rPr lang="en-US" sz="1500" b="0">
                <a:solidFill>
                  <a:srgbClr val="FFFFFF"/>
                </a:solidFill>
              </a:rPr>
              <a:t>fraud_service.py</a:t>
            </a:r>
          </a:p>
          <a:p>
            <a:pPr algn="ctr"/>
            <a:r>
              <a:rPr lang="en-US" sz="1500" b="0">
                <a:solidFill>
                  <a:srgbClr val="FFFFFF"/>
                </a:solidFill>
              </a:rPr>
              <a:t>graph_service.py</a:t>
            </a:r>
          </a:p>
          <a:p>
            <a:pPr algn="ctr"/>
            <a:r>
              <a:rPr lang="en-US" sz="1500" b="0">
                <a:solidFill>
                  <a:srgbClr val="FFFFFF"/>
                </a:solidFill>
              </a:rPr>
              <a:t>report_service.py</a:t>
            </a:r>
          </a:p>
        </p:txBody>
      </p:sp>
      <p:sp>
        <p:nvSpPr>
          <p:cNvPr id="100033" name="AiArrow"/>
          <p:cNvSpPr txBox="1"/>
          <p:nvPr/>
        </p:nvSpPr>
        <p:spPr>
          <a:xfrm>
            <a:off x="8532000" y="2448000"/>
            <a:ext cx="1260000" cy="540000"/>
          </a:xfrm>
          <a:prstGeom prst="rect">
            <a:avLst/>
          </a:prstGeom>
          <a:noFill/>
        </p:spPr>
        <p:txBody>
          <a:bodyPr/>
          <a:lstStyle/>
          <a:p>
            <a:pPr algn="ctr"/>
            <a:r>
              <a:rPr lang="en-US" sz="1200" b="0">
                <a:solidFill>
                  <a:srgbClr val="00B4D8"/>
                </a:solidFill>
              </a:rPr>
              <a:t>SDK call</a:t>
            </a:r>
          </a:p>
          <a:p>
            <a:pPr algn="ctr"/>
            <a:r>
              <a:rPr lang="en-US" sz="1200" b="0">
                <a:solidFill>
                  <a:srgbClr val="00B4D8"/>
                </a:solidFill>
              </a:rPr>
              <a:t>(optional)</a:t>
            </a:r>
          </a:p>
        </p:txBody>
      </p:sp>
      <p:sp>
        <p:nvSpPr>
          <p:cNvPr id="100034" name="TierAI"/>
          <p:cNvSpPr txBox="1"/>
          <p:nvPr/>
        </p:nvSpPr>
        <p:spPr>
          <a:xfrm>
            <a:off x="9864000" y="1368000"/>
            <a:ext cx="1908000" cy="2880000"/>
          </a:xfrm>
          <a:prstGeom prst="rect">
            <a:avLst/>
          </a:prstGeom>
          <a:solidFill>
            <a:srgbClr val="16213E"/>
          </a:solidFill>
        </p:spPr>
        <p:txBody>
          <a:bodyPr/>
          <a:lstStyle/>
          <a:p>
            <a:pPr algn="ctr"/>
            <a:r>
              <a:rPr lang="en-US" sz="1300" b="0">
                <a:solidFill>
                  <a:srgbClr val="FFFFFF"/>
                </a:solidFill>
              </a:rPr>
              <a:t>AI LAYER</a:t>
            </a:r>
          </a:p>
          <a:p>
            <a:pPr algn="ctr"/>
            <a:r>
              <a:rPr lang="en-US" sz="1300" b="0">
                <a:solidFill>
                  <a:srgbClr val="FFFFFF"/>
                </a:solidFill>
              </a:rPr>
              <a:t>IBM watsonx.ai</a:t>
            </a:r>
          </a:p>
          <a:p>
            <a:pPr algn="ctr"/>
            <a:r>
              <a:rPr lang="en-US" sz="1300" b="0">
                <a:solidFill>
                  <a:srgbClr val="FFFFFF"/>
                </a:solidFill>
              </a:rPr>
              <a:t>Granite-13B</a:t>
            </a:r>
          </a:p>
          <a:p>
            <a:pPr algn="ctr"/>
            <a:r>
              <a:rPr lang="en-US" sz="1300" b="0">
                <a:solidFill>
                  <a:srgbClr val="FFFFFF"/>
                </a:solidFill>
              </a:rPr>
              <a:t/>
            </a:r>
          </a:p>
          <a:p>
            <a:pPr algn="ctr"/>
            <a:r>
              <a:rPr lang="en-US" sz="1300" b="0">
                <a:solidFill>
                  <a:srgbClr val="FFFFFF"/>
                </a:solidFill>
              </a:rPr>
              <a:t>Entity extraction</a:t>
            </a:r>
          </a:p>
          <a:p>
            <a:pPr algn="ctr"/>
            <a:r>
              <a:rPr lang="en-US" sz="1300" b="0">
                <a:solidFill>
                  <a:srgbClr val="FFFFFF"/>
                </a:solidFill>
              </a:rPr>
              <a:t>Relationship extraction</a:t>
            </a:r>
          </a:p>
          <a:p>
            <a:pPr algn="ctr"/>
            <a:r>
              <a:rPr lang="en-US" sz="1300" b="0">
                <a:solidFill>
                  <a:srgbClr val="FFFFFF"/>
                </a:solidFill>
              </a:rPr>
              <a:t>+ Deterministic fallback</a:t>
            </a:r>
          </a:p>
        </p:txBody>
      </p:sp>
      <p:sp>
        <p:nvSpPr>
          <p:cNvPr id="100035" name="StatelessNote"/>
          <p:cNvSpPr txBox="1"/>
          <p:nvPr/>
        </p:nvSpPr>
        <p:spPr>
          <a:xfrm>
            <a:off x="360000" y="4500000"/>
            <a:ext cx="11340000" cy="324000"/>
          </a:xfrm>
          <a:prstGeom prst="rect">
            <a:avLst/>
          </a:prstGeom>
          <a:noFill/>
        </p:spPr>
        <p:txBody>
          <a:bodyPr/>
          <a:lstStyle/>
          <a:p>
            <a:pPr algn="ctr"/>
            <a:r>
              <a:rPr lang="en-US" sz="1300" b="0">
                <a:solidFill>
                  <a:srgbClr val="B0BEC5"/>
                </a:solidFill>
              </a:rPr>
              <a:t>Stateless design — no database  ·  Horizontally scalable  ·  Supports TXT / CSV / JSON input</a:t>
            </a:r>
          </a:p>
        </p:txBody>
      </p:sp>
    </p:spTree>
  </p:cSld>
</p:sld>
</file>

<file path=ppt/slides/slide5.xml><?xml version="1.0" encoding="utf-8"?>
<p:sld xmlns:a="http://schemas.openxmlformats.org/drawingml/2006/main" xmlns:p="http://schemas.openxmlformats.org/presentationml/2006/main">
  <p:cSld>
    <p:bg>
      <p:bgPr>
        <a:solidFill xmlns:a="http://schemas.openxmlformats.org/drawingml/2006/main">
          <a:srgbClr val="0F3460"/>
        </a:solidFill>
      </p:bgPr>
    </p:bg>
    <p:spTree>
      <p:nvGrpSpPr>
        <p:cNvPr id="1" name=""/>
        <p:cNvGrpSpPr/>
        <p:nvPr/>
      </p:nvGrpSpPr>
      <p:grpSpPr/>
      <p:sp>
        <p:nvSpPr>
          <p:cNvPr id="100036" name="SlideLabel"/>
          <p:cNvSpPr txBox="1"/>
          <p:nvPr/>
        </p:nvSpPr>
        <p:spPr>
          <a:xfrm>
            <a:off x="540000" y="288000"/>
            <a:ext cx="4320000" cy="288000"/>
          </a:xfrm>
          <a:prstGeom prst="rect">
            <a:avLst/>
          </a:prstGeom>
          <a:noFill/>
        </p:spPr>
        <p:txBody>
          <a:bodyPr/>
          <a:lstStyle/>
          <a:p>
            <a:r>
              <a:rPr lang="en-US" sz="1300" b="0">
                <a:solidFill>
                  <a:srgbClr val="00B4D8"/>
                </a:solidFill>
              </a:rPr>
              <a:t>05  /  KEY FEATURES</a:t>
            </a:r>
          </a:p>
        </p:txBody>
      </p:sp>
      <p:sp>
        <p:nvSpPr>
          <p:cNvPr id="100037" name="Title"/>
          <p:cNvSpPr txBox="1"/>
          <p:nvPr/>
        </p:nvSpPr>
        <p:spPr>
          <a:xfrm>
            <a:off x="540000" y="648000"/>
            <a:ext cx="10800000" cy="540000"/>
          </a:xfrm>
          <a:prstGeom prst="rect">
            <a:avLst/>
          </a:prstGeom>
          <a:noFill/>
        </p:spPr>
        <p:txBody>
          <a:bodyPr/>
          <a:lstStyle/>
          <a:p>
            <a:r>
              <a:rPr lang="en-US" sz="3600" b="1">
                <a:solidFill>
                  <a:srgbClr val="FFFFFF"/>
                </a:solidFill>
              </a:rPr>
              <a:t>Key Features</a:t>
            </a:r>
          </a:p>
        </p:txBody>
      </p:sp>
      <p:sp>
        <p:nvSpPr>
          <p:cNvPr id="100038" name="F1"/>
          <p:cNvSpPr txBox="1"/>
          <p:nvPr/>
        </p:nvSpPr>
        <p:spPr>
          <a:xfrm>
            <a:off x="360000" y="1440000"/>
            <a:ext cx="5400000" cy="900000"/>
          </a:xfrm>
          <a:prstGeom prst="rect">
            <a:avLst/>
          </a:prstGeom>
          <a:solidFill>
            <a:srgbClr val="1A4A6E"/>
          </a:solidFill>
        </p:spPr>
        <p:txBody>
          <a:bodyPr/>
          <a:lstStyle/>
          <a:p>
            <a:r>
              <a:rPr lang="en-US" sz="1500" b="0">
                <a:solidFill>
                  <a:srgbClr val="FFFFFF"/>
                </a:solidFill>
              </a:rPr>
              <a:t>Entity Extraction</a:t>
            </a:r>
          </a:p>
          <a:p>
            <a:r>
              <a:rPr lang="en-US" sz="1500" b="0">
                <a:solidFill>
                  <a:srgbClr val="FFFFFF"/>
                </a:solidFill>
              </a:rPr>
              <a:t>7 types: Person · Victim · Phone · Device · Bank Account · UPI ID · Transaction</a:t>
            </a:r>
          </a:p>
        </p:txBody>
      </p:sp>
      <p:sp>
        <p:nvSpPr>
          <p:cNvPr id="100039" name="F2"/>
          <p:cNvSpPr txBox="1"/>
          <p:nvPr/>
        </p:nvSpPr>
        <p:spPr>
          <a:xfrm>
            <a:off x="6120000" y="1440000"/>
            <a:ext cx="5580000" cy="900000"/>
          </a:xfrm>
          <a:prstGeom prst="rect">
            <a:avLst/>
          </a:prstGeom>
          <a:solidFill>
            <a:srgbClr val="1A4A6E"/>
          </a:solidFill>
        </p:spPr>
        <p:txBody>
          <a:bodyPr/>
          <a:lstStyle/>
          <a:p>
            <a:r>
              <a:rPr lang="en-US" sz="1500" b="0">
                <a:solidFill>
                  <a:srgbClr val="FFFFFF"/>
                </a:solidFill>
              </a:rPr>
              <a:t>Relationship Mapping</a:t>
            </a:r>
          </a:p>
          <a:p>
            <a:r>
              <a:rPr lang="en-US" sz="1500" b="0">
                <a:solidFill>
                  <a:srgbClr val="FFFFFF"/>
                </a:solidFill>
              </a:rPr>
              <a:t>4 types incl. TRANSFERRED_TO with amounts + timestamps</a:t>
            </a:r>
          </a:p>
        </p:txBody>
      </p:sp>
      <p:sp>
        <p:nvSpPr>
          <p:cNvPr id="100040" name="F3"/>
          <p:cNvSpPr txBox="1"/>
          <p:nvPr/>
        </p:nvSpPr>
        <p:spPr>
          <a:xfrm>
            <a:off x="360000" y="2520000"/>
            <a:ext cx="5400000" cy="900000"/>
          </a:xfrm>
          <a:prstGeom prst="rect">
            <a:avLst/>
          </a:prstGeom>
          <a:solidFill>
            <a:srgbClr val="F4A261"/>
          </a:solidFill>
        </p:spPr>
        <p:txBody>
          <a:bodyPr/>
          <a:lstStyle/>
          <a:p>
            <a:r>
              <a:rPr lang="en-US" sz="1500" b="0">
                <a:solidFill>
                  <a:srgbClr val="1A1A2E"/>
                </a:solidFill>
              </a:rPr>
              <a:t>Fraud Pattern Detection</a:t>
            </a:r>
          </a:p>
          <a:p>
            <a:r>
              <a:rPr lang="en-US" sz="1500" b="0">
                <a:solidFill>
                  <a:srgbClr val="1A1A2E"/>
                </a:solidFill>
              </a:rPr>
              <a:t>MULTIPLE_SOURCE  ·  SHARED_DEVICE  ·  MULTI_HOP — with severity levels (MEDIUM / HIGH)</a:t>
            </a:r>
          </a:p>
        </p:txBody>
      </p:sp>
      <p:sp>
        <p:nvSpPr>
          <p:cNvPr id="100041" name="F4"/>
          <p:cNvSpPr txBox="1"/>
          <p:nvPr/>
        </p:nvSpPr>
        <p:spPr>
          <a:xfrm>
            <a:off x="6120000" y="2520000"/>
            <a:ext cx="5580000" cy="900000"/>
          </a:xfrm>
          <a:prstGeom prst="rect">
            <a:avLst/>
          </a:prstGeom>
          <a:solidFill>
            <a:srgbClr val="1A4A6E"/>
          </a:solidFill>
        </p:spPr>
        <p:txBody>
          <a:bodyPr/>
          <a:lstStyle/>
          <a:p>
            <a:r>
              <a:rPr lang="en-US" sz="1500" b="0">
                <a:solidFill>
                  <a:srgbClr val="FFFFFF"/>
                </a:solidFill>
              </a:rPr>
              <a:t>Interactive Network Graph</a:t>
            </a:r>
          </a:p>
          <a:p>
            <a:r>
              <a:rPr lang="en-US" sz="1500" b="0">
                <a:solidFill>
                  <a:srgbClr val="FFFFFF"/>
                </a:solidFill>
              </a:rPr>
              <a:t>React Flow: drag · zoom · click-to-detail node inspection</a:t>
            </a:r>
          </a:p>
        </p:txBody>
      </p:sp>
      <p:sp>
        <p:nvSpPr>
          <p:cNvPr id="100042" name="F5"/>
          <p:cNvSpPr txBox="1"/>
          <p:nvPr/>
        </p:nvSpPr>
        <p:spPr>
          <a:xfrm>
            <a:off x="360000" y="3600000"/>
            <a:ext cx="5400000" cy="900000"/>
          </a:xfrm>
          <a:prstGeom prst="rect">
            <a:avLst/>
          </a:prstGeom>
          <a:solidFill>
            <a:srgbClr val="1A4A6E"/>
          </a:solidFill>
        </p:spPr>
        <p:txBody>
          <a:bodyPr/>
          <a:lstStyle/>
          <a:p>
            <a:r>
              <a:rPr lang="en-US" sz="1500" b="0">
                <a:solidFill>
                  <a:srgbClr val="FFFFFF"/>
                </a:solidFill>
              </a:rPr>
              <a:t>Deterministic Fallback</a:t>
            </a:r>
          </a:p>
          <a:p>
            <a:r>
              <a:rPr lang="en-US" sz="1500" b="0">
                <a:solidFill>
                  <a:srgbClr val="FFFFFF"/>
                </a:solidFill>
              </a:rPr>
              <a:t>Full regex-based extraction — works 100% offline without watsonx.ai</a:t>
            </a:r>
          </a:p>
        </p:txBody>
      </p:sp>
      <p:sp>
        <p:nvSpPr>
          <p:cNvPr id="100043" name="F6"/>
          <p:cNvSpPr txBox="1"/>
          <p:nvPr/>
        </p:nvSpPr>
        <p:spPr>
          <a:xfrm>
            <a:off x="6120000" y="3600000"/>
            <a:ext cx="5580000" cy="900000"/>
          </a:xfrm>
          <a:prstGeom prst="rect">
            <a:avLst/>
          </a:prstGeom>
          <a:solidFill>
            <a:srgbClr val="1A4A6E"/>
          </a:solidFill>
        </p:spPr>
        <p:txBody>
          <a:bodyPr/>
          <a:lstStyle/>
          <a:p>
            <a:r>
              <a:rPr lang="en-US" sz="1500" b="0">
                <a:solidFill>
                  <a:srgbClr val="FFFFFF"/>
                </a:solidFill>
              </a:rPr>
              <a:t>FIR-Ready Case Brief</a:t>
            </a:r>
          </a:p>
          <a:p>
            <a:r>
              <a:rPr lang="en-US" sz="1500" b="0">
                <a:solidFill>
                  <a:srgbClr val="FFFFFF"/>
                </a:solidFill>
              </a:rPr>
              <a:t>Entity counts · pattern descriptions · key entities · recommended actions</a:t>
            </a:r>
          </a:p>
        </p:txBody>
      </p:sp>
    </p:spTree>
  </p:cSld>
</p:sld>
</file>

<file path=ppt/slides/slide6.xml><?xml version="1.0" encoding="utf-8"?>
<p:sld xmlns:a="http://schemas.openxmlformats.org/drawingml/2006/main" xmlns:p="http://schemas.openxmlformats.org/presentationml/2006/main">
  <p:cSld>
    <p:bg>
      <p:bgPr>
        <a:solidFill xmlns:a="http://schemas.openxmlformats.org/drawingml/2006/main">
          <a:srgbClr val="0F3460"/>
        </a:solidFill>
      </p:bgPr>
    </p:bg>
    <p:spTree>
      <p:nvGrpSpPr>
        <p:cNvPr id="1" name=""/>
        <p:cNvGrpSpPr/>
        <p:nvPr/>
      </p:nvGrpSpPr>
      <p:grpSpPr/>
      <p:sp>
        <p:nvSpPr>
          <p:cNvPr id="100044" name="SlideLabel"/>
          <p:cNvSpPr txBox="1"/>
          <p:nvPr/>
        </p:nvSpPr>
        <p:spPr>
          <a:xfrm>
            <a:off x="540000" y="288000"/>
            <a:ext cx="5040000" cy="288000"/>
          </a:xfrm>
          <a:prstGeom prst="rect">
            <a:avLst/>
          </a:prstGeom>
          <a:noFill/>
        </p:spPr>
        <p:txBody>
          <a:bodyPr/>
          <a:lstStyle/>
          <a:p>
            <a:r>
              <a:rPr lang="en-US" sz="1300" b="0">
                <a:solidFill>
                  <a:srgbClr val="00B4D8"/>
                </a:solidFill>
              </a:rPr>
              <a:t>06  /  IBM TECHNOLOGIES</a:t>
            </a:r>
          </a:p>
        </p:txBody>
      </p:sp>
      <p:sp>
        <p:nvSpPr>
          <p:cNvPr id="100045" name="Title"/>
          <p:cNvSpPr txBox="1"/>
          <p:nvPr/>
        </p:nvSpPr>
        <p:spPr>
          <a:xfrm>
            <a:off x="540000" y="648000"/>
            <a:ext cx="10800000" cy="540000"/>
          </a:xfrm>
          <a:prstGeom prst="rect">
            <a:avLst/>
          </a:prstGeom>
          <a:noFill/>
        </p:spPr>
        <p:txBody>
          <a:bodyPr/>
          <a:lstStyle/>
          <a:p>
            <a:r>
              <a:rPr lang="en-US" sz="3600" b="1">
                <a:solidFill>
                  <a:srgbClr val="FFFFFF"/>
                </a:solidFill>
              </a:rPr>
              <a:t>IBM Technologies</a:t>
            </a:r>
          </a:p>
        </p:txBody>
      </p:sp>
      <p:sp>
        <p:nvSpPr>
          <p:cNvPr id="100046" name="BobHeader"/>
          <p:cNvSpPr txBox="1"/>
          <p:nvPr/>
        </p:nvSpPr>
        <p:spPr>
          <a:xfrm>
            <a:off x="360000" y="1368000"/>
            <a:ext cx="5400000" cy="432000"/>
          </a:xfrm>
          <a:prstGeom prst="rect">
            <a:avLst/>
          </a:prstGeom>
          <a:noFill/>
        </p:spPr>
        <p:txBody>
          <a:bodyPr/>
          <a:lstStyle/>
          <a:p>
            <a:r>
              <a:rPr lang="en-US" sz="2600" b="1">
                <a:solidFill>
                  <a:srgbClr val="00B4D8"/>
                </a:solidFill>
              </a:rPr>
              <a:t>IBM Bob</a:t>
            </a:r>
          </a:p>
        </p:txBody>
      </p:sp>
      <p:sp>
        <p:nvSpPr>
          <p:cNvPr id="100047" name="BobRole"/>
          <p:cNvSpPr txBox="1"/>
          <p:nvPr/>
        </p:nvSpPr>
        <p:spPr>
          <a:xfrm>
            <a:off x="360000" y="1800000"/>
            <a:ext cx="5400000" cy="288000"/>
          </a:xfrm>
          <a:prstGeom prst="rect">
            <a:avLst/>
          </a:prstGeom>
          <a:noFill/>
        </p:spPr>
        <p:txBody>
          <a:bodyPr/>
          <a:lstStyle/>
          <a:p>
            <a:r>
              <a:rPr lang="en-US" sz="1300" b="1">
                <a:solidFill>
                  <a:srgbClr val="B0BEC5"/>
                </a:solidFill>
              </a:rPr>
              <a:t>PRIMARY DEVELOPMENT AGENT</a:t>
            </a:r>
          </a:p>
        </p:txBody>
      </p:sp>
      <p:sp>
        <p:nvSpPr>
          <p:cNvPr id="100048" name="BobUsage"/>
          <p:cNvSpPr txBox="1"/>
          <p:nvPr/>
        </p:nvSpPr>
        <p:spPr>
          <a:xfrm>
            <a:off x="360000" y="2160000"/>
            <a:ext cx="5400000" cy="2340000"/>
          </a:xfrm>
          <a:prstGeom prst="rect">
            <a:avLst/>
          </a:prstGeom>
          <a:solidFill>
            <a:srgbClr val="1A4A6E"/>
          </a:solidFill>
        </p:spPr>
        <p:txBody>
          <a:bodyPr/>
          <a:lstStyle/>
          <a:p>
            <a:r>
              <a:rPr lang="en-US" sz="1500" b="0">
                <a:solidFill>
                  <a:srgbClr val="FFFFFF"/>
                </a:solidFill>
              </a:rPr>
              <a:t>Architecture planning and design decisions</a:t>
            </a:r>
          </a:p>
          <a:p>
            <a:r>
              <a:rPr lang="en-US" sz="1500" b="0">
                <a:solidFill>
                  <a:srgbClr val="FFFFFF"/>
                </a:solidFill>
              </a:rPr>
              <a:t>Backend API structure and service layers</a:t>
            </a:r>
          </a:p>
          <a:p>
            <a:r>
              <a:rPr lang="en-US" sz="1500" b="0">
                <a:solidFill>
                  <a:srgbClr val="FFFFFF"/>
                </a:solidFill>
              </a:rPr>
              <a:t>Entity extraction regex logic + deduplication</a:t>
            </a:r>
          </a:p>
          <a:p>
            <a:r>
              <a:rPr lang="en-US" sz="1500" b="0">
                <a:solidFill>
                  <a:srgbClr val="FFFFFF"/>
                </a:solidFill>
              </a:rPr>
              <a:t>Relationship extraction algorithms</a:t>
            </a:r>
          </a:p>
          <a:p>
            <a:r>
              <a:rPr lang="en-US" sz="1500" b="0">
                <a:solidFill>
                  <a:srgbClr val="FFFFFF"/>
                </a:solidFill>
              </a:rPr>
              <a:t>Fraud-pattern detection implementation</a:t>
            </a:r>
          </a:p>
          <a:p>
            <a:r>
              <a:rPr lang="en-US" sz="1500" b="0">
                <a:solidFill>
                  <a:srgbClr val="FFFFFF"/>
                </a:solidFill>
              </a:rPr>
              <a:t>React Flow frontend integration</a:t>
            </a:r>
          </a:p>
          <a:p>
            <a:r>
              <a:rPr lang="en-US" sz="1500" b="0">
                <a:solidFill>
                  <a:srgbClr val="FFFFFF"/>
                </a:solidFill>
              </a:rPr>
              <a:t>Full pytest test suite</a:t>
            </a:r>
          </a:p>
          <a:p>
            <a:r>
              <a:rPr lang="en-US" sz="1500" b="0">
                <a:solidFill>
                  <a:srgbClr val="FFFFFF"/>
                </a:solidFill>
              </a:rPr>
              <a:t>CORS / watsonx.ai SDK troubleshooting</a:t>
            </a:r>
          </a:p>
          <a:p>
            <a:r>
              <a:rPr lang="en-US" sz="1500" b="0">
                <a:solidFill>
                  <a:srgbClr val="FFFFFF"/>
                </a:solidFill>
              </a:rPr>
              <a:t>Documentation and README generation</a:t>
            </a:r>
          </a:p>
        </p:txBody>
      </p:sp>
      <p:sp>
        <p:nvSpPr>
          <p:cNvPr id="100049" name="WxHeader"/>
          <p:cNvSpPr txBox="1"/>
          <p:nvPr/>
        </p:nvSpPr>
        <p:spPr>
          <a:xfrm>
            <a:off x="6300000" y="1368000"/>
            <a:ext cx="5400000" cy="432000"/>
          </a:xfrm>
          <a:prstGeom prst="rect">
            <a:avLst/>
          </a:prstGeom>
          <a:noFill/>
        </p:spPr>
        <p:txBody>
          <a:bodyPr/>
          <a:lstStyle/>
          <a:p>
            <a:r>
              <a:rPr lang="en-US" sz="2600" b="1">
                <a:solidFill>
                  <a:srgbClr val="00B4D8"/>
                </a:solidFill>
              </a:rPr>
              <a:t>IBM watsonx.ai</a:t>
            </a:r>
          </a:p>
        </p:txBody>
      </p:sp>
      <p:sp>
        <p:nvSpPr>
          <p:cNvPr id="100050" name="WxRole"/>
          <p:cNvSpPr txBox="1"/>
          <p:nvPr/>
        </p:nvSpPr>
        <p:spPr>
          <a:xfrm>
            <a:off x="6300000" y="1800000"/>
            <a:ext cx="5400000" cy="288000"/>
          </a:xfrm>
          <a:prstGeom prst="rect">
            <a:avLst/>
          </a:prstGeom>
          <a:noFill/>
        </p:spPr>
        <p:txBody>
          <a:bodyPr/>
          <a:lstStyle/>
          <a:p>
            <a:r>
              <a:rPr lang="en-US" sz="1300" b="1">
                <a:solidFill>
                  <a:srgbClr val="B0BEC5"/>
                </a:solidFill>
              </a:rPr>
              <a:t>RUNTIME AI  ·  GRANITE-13B-INSTRUCT-V2</a:t>
            </a:r>
          </a:p>
        </p:txBody>
      </p:sp>
      <p:sp>
        <p:nvSpPr>
          <p:cNvPr id="100051" name="WxUsage"/>
          <p:cNvSpPr txBox="1"/>
          <p:nvPr/>
        </p:nvSpPr>
        <p:spPr>
          <a:xfrm>
            <a:off x="6300000" y="2160000"/>
            <a:ext cx="5400000" cy="2340000"/>
          </a:xfrm>
          <a:prstGeom prst="rect">
            <a:avLst/>
          </a:prstGeom>
          <a:solidFill>
            <a:srgbClr val="16213E"/>
          </a:solidFill>
        </p:spPr>
        <p:txBody>
          <a:bodyPr/>
          <a:lstStyle/>
          <a:p>
            <a:r>
              <a:rPr lang="en-US" sz="1500" b="0">
                <a:solidFill>
                  <a:srgbClr val="FFFFFF"/>
                </a:solidFill>
              </a:rPr>
              <a:t>Enhanced entity extraction from unstructured text</a:t>
            </a:r>
          </a:p>
          <a:p>
            <a:r>
              <a:rPr lang="en-US" sz="1500" b="0">
                <a:solidFill>
                  <a:srgbClr val="FFFFFF"/>
                </a:solidFill>
              </a:rPr>
              <a:t>Relationship extraction (subject-verb-object)</a:t>
            </a:r>
          </a:p>
          <a:p>
            <a:r>
              <a:rPr lang="en-US" sz="1500" b="0">
                <a:solidFill>
                  <a:srgbClr val="FFFFFF"/>
                </a:solidFill>
              </a:rPr>
              <a:t>Called via ibm-watsonx-ai Python SDK</a:t>
            </a:r>
          </a:p>
          <a:p>
            <a:r>
              <a:rPr lang="en-US" sz="1500" b="0">
                <a:solidFill>
                  <a:srgbClr val="FFFFFF"/>
                </a:solidFill>
              </a:rPr>
              <a:t>Model: ibm/granite-13b-instruct-v2</a:t>
            </a:r>
          </a:p>
          <a:p>
            <a:r>
              <a:rPr lang="en-US" sz="1500" b="0">
                <a:solidFill>
                  <a:srgbClr val="FFFFFF"/>
                </a:solidFill>
              </a:rPr>
              <a:t>Environment: WATSONX_API_KEY + PROJECT_ID</a:t>
            </a:r>
          </a:p>
          <a:p>
            <a:r>
              <a:rPr lang="en-US" sz="1500" b="0">
                <a:solidFill>
                  <a:srgbClr val="FFFFFF"/>
                </a:solidFill>
              </a:rPr>
              <a:t>Optional — deterministic fallback when disabled</a:t>
            </a:r>
          </a:p>
          <a:p>
            <a:r>
              <a:rPr lang="en-US" sz="1500" b="0">
                <a:solidFill>
                  <a:srgbClr val="FFFFFF"/>
                </a:solidFill>
              </a:rPr>
              <a:t>Endpoint: us-south.ml.cloud.ibm.com</a:t>
            </a:r>
          </a:p>
        </p:txBody>
      </p:sp>
      <p:sp>
        <p:nvSpPr>
          <p:cNvPr id="100052" name="BobQuote"/>
          <p:cNvSpPr txBox="1"/>
          <p:nvPr/>
        </p:nvSpPr>
        <p:spPr>
          <a:xfrm>
            <a:off x="360000" y="4680000"/>
            <a:ext cx="11340000" cy="324000"/>
          </a:xfrm>
          <a:prstGeom prst="rect">
            <a:avLst/>
          </a:prstGeom>
          <a:noFill/>
        </p:spPr>
        <p:txBody>
          <a:bodyPr/>
          <a:lstStyle/>
          <a:p>
            <a:pPr algn="ctr"/>
            <a:r>
              <a:rPr lang="en-US" sz="1400" b="0">
                <a:solidFill>
                  <a:srgbClr val="00B4D8"/>
                </a:solidFill>
              </a:rPr>
              <a:t>IBM Bob was our primary engineering partner — from first design decision to final test run</a:t>
            </a:r>
          </a:p>
        </p:txBody>
      </p:sp>
    </p:spTree>
  </p:cSld>
</p:sld>
</file>

<file path=ppt/slides/slide7.xml><?xml version="1.0" encoding="utf-8"?>
<p:sld xmlns:a="http://schemas.openxmlformats.org/drawingml/2006/main" xmlns:p="http://schemas.openxmlformats.org/presentationml/2006/main">
  <p:cSld>
    <p:bg>
      <p:bgPr>
        <a:solidFill xmlns:a="http://schemas.openxmlformats.org/drawingml/2006/main">
          <a:srgbClr val="0F3460"/>
        </a:solidFill>
      </p:bgPr>
    </p:bg>
    <p:spTree>
      <p:nvGrpSpPr>
        <p:cNvPr id="1" name=""/>
        <p:cNvGrpSpPr/>
        <p:nvPr/>
      </p:nvGrpSpPr>
      <p:grpSpPr/>
      <p:sp>
        <p:nvSpPr>
          <p:cNvPr id="100053" name="SlideLabel"/>
          <p:cNvSpPr txBox="1"/>
          <p:nvPr/>
        </p:nvSpPr>
        <p:spPr>
          <a:xfrm>
            <a:off x="540000" y="288000"/>
            <a:ext cx="5040000" cy="288000"/>
          </a:xfrm>
          <a:prstGeom prst="rect">
            <a:avLst/>
          </a:prstGeom>
          <a:noFill/>
        </p:spPr>
        <p:txBody>
          <a:bodyPr/>
          <a:lstStyle/>
          <a:p>
            <a:r>
              <a:rPr lang="en-US" sz="1300" b="0">
                <a:solidFill>
                  <a:srgbClr val="00B4D8"/>
                </a:solidFill>
              </a:rPr>
              <a:t>07  /  IMPACT &amp; RESULTS</a:t>
            </a:r>
          </a:p>
        </p:txBody>
      </p:sp>
      <p:sp>
        <p:nvSpPr>
          <p:cNvPr id="100054" name="Title"/>
          <p:cNvSpPr txBox="1"/>
          <p:nvPr/>
        </p:nvSpPr>
        <p:spPr>
          <a:xfrm>
            <a:off x="540000" y="648000"/>
            <a:ext cx="10800000" cy="540000"/>
          </a:xfrm>
          <a:prstGeom prst="rect">
            <a:avLst/>
          </a:prstGeom>
          <a:noFill/>
        </p:spPr>
        <p:txBody>
          <a:bodyPr/>
          <a:lstStyle/>
          <a:p>
            <a:r>
              <a:rPr lang="en-US" sz="3600" b="1">
                <a:solidFill>
                  <a:srgbClr val="FFFFFF"/>
                </a:solidFill>
              </a:rPr>
              <a:t>Impact &amp; Results</a:t>
            </a:r>
          </a:p>
        </p:txBody>
      </p:sp>
      <p:sp>
        <p:nvSpPr>
          <p:cNvPr id="100055" name="BeforeHeader"/>
          <p:cNvSpPr txBox="1"/>
          <p:nvPr/>
        </p:nvSpPr>
        <p:spPr>
          <a:xfrm>
            <a:off x="360000" y="1368000"/>
            <a:ext cx="5040000" cy="324000"/>
          </a:xfrm>
          <a:prstGeom prst="rect">
            <a:avLst/>
          </a:prstGeom>
          <a:noFill/>
        </p:spPr>
        <p:txBody>
          <a:bodyPr/>
          <a:lstStyle/>
          <a:p>
            <a:pPr algn="ctr"/>
            <a:r>
              <a:rPr lang="en-US" sz="1600" b="1">
                <a:solidFill>
                  <a:srgbClr val="F4A261"/>
                </a:solidFill>
              </a:rPr>
              <a:t>BEFORE</a:t>
            </a:r>
          </a:p>
        </p:txBody>
      </p:sp>
      <p:sp>
        <p:nvSpPr>
          <p:cNvPr id="100056" name="AfterHeader"/>
          <p:cNvSpPr txBox="1"/>
          <p:nvPr/>
        </p:nvSpPr>
        <p:spPr>
          <a:xfrm>
            <a:off x="5940000" y="1368000"/>
            <a:ext cx="5760000" cy="324000"/>
          </a:xfrm>
          <a:prstGeom prst="rect">
            <a:avLst/>
          </a:prstGeom>
          <a:noFill/>
        </p:spPr>
        <p:txBody>
          <a:bodyPr/>
          <a:lstStyle/>
          <a:p>
            <a:pPr algn="ctr"/>
            <a:r>
              <a:rPr lang="en-US" sz="1600" b="1">
                <a:solidFill>
                  <a:srgbClr val="00B4D8"/>
                </a:solidFill>
              </a:rPr>
              <a:t>AFTER</a:t>
            </a:r>
          </a:p>
        </p:txBody>
      </p:sp>
      <p:sp>
        <p:nvSpPr>
          <p:cNvPr id="100057" name="BeforeItems"/>
          <p:cNvSpPr txBox="1"/>
          <p:nvPr/>
        </p:nvSpPr>
        <p:spPr>
          <a:xfrm>
            <a:off x="360000" y="1764000"/>
            <a:ext cx="5040000" cy="1980000"/>
          </a:xfrm>
          <a:prstGeom prst="rect">
            <a:avLst/>
          </a:prstGeom>
          <a:solidFill>
            <a:srgbClr val="2A1A0E"/>
          </a:solidFill>
        </p:spPr>
        <p:txBody>
          <a:bodyPr/>
          <a:lstStyle/>
          <a:p>
            <a:r>
              <a:rPr lang="en-US" sz="1600" b="0">
                <a:solidFill>
                  <a:srgbClr val="FFFFFF"/>
                </a:solidFill>
              </a:rPr>
              <a:t>Weeks of manual investigation</a:t>
            </a:r>
          </a:p>
          <a:p>
            <a:r>
              <a:rPr lang="en-US" sz="1600" b="0">
                <a:solidFill>
                  <a:srgbClr val="FFFFFF"/>
                </a:solidFill>
              </a:rPr>
              <a:t>Investors trace connections by hand</a:t>
            </a:r>
          </a:p>
          <a:p>
            <a:r>
              <a:rPr lang="en-US" sz="1600" b="0">
                <a:solidFill>
                  <a:srgbClr val="FFFFFF"/>
                </a:solidFill>
              </a:rPr>
              <a:t>Patterns invisible across data silos</a:t>
            </a:r>
          </a:p>
          <a:p>
            <a:r>
              <a:rPr lang="en-US" sz="1600" b="0">
                <a:solidFill>
                  <a:srgbClr val="FFFFFF"/>
                </a:solidFill>
              </a:rPr>
              <a:t>Most cases remain unsolved</a:t>
            </a:r>
          </a:p>
          <a:p>
            <a:r>
              <a:rPr lang="en-US" sz="1600" b="0">
                <a:solidFill>
                  <a:srgbClr val="FFFFFF"/>
                </a:solidFill>
              </a:rPr>
              <a:t>Requires specialist analyst skills</a:t>
            </a:r>
          </a:p>
        </p:txBody>
      </p:sp>
      <p:sp>
        <p:nvSpPr>
          <p:cNvPr id="100058" name="VsArrow"/>
          <p:cNvSpPr txBox="1"/>
          <p:nvPr/>
        </p:nvSpPr>
        <p:spPr>
          <a:xfrm>
            <a:off x="5472000" y="2520000"/>
            <a:ext cx="360000" cy="432000"/>
          </a:xfrm>
          <a:prstGeom prst="rect">
            <a:avLst/>
          </a:prstGeom>
          <a:noFill/>
        </p:spPr>
        <p:txBody>
          <a:bodyPr/>
          <a:lstStyle/>
          <a:p>
            <a:pPr algn="ctr"/>
            <a:r>
              <a:rPr lang="en-US" sz="1400" b="1">
                <a:solidFill>
                  <a:srgbClr val="B0BEC5"/>
                </a:solidFill>
              </a:rPr>
              <a:t>VS</a:t>
            </a:r>
          </a:p>
        </p:txBody>
      </p:sp>
      <p:sp>
        <p:nvSpPr>
          <p:cNvPr id="100059" name="AfterItems"/>
          <p:cNvSpPr txBox="1"/>
          <p:nvPr/>
        </p:nvSpPr>
        <p:spPr>
          <a:xfrm>
            <a:off x="5940000" y="1764000"/>
            <a:ext cx="5760000" cy="1980000"/>
          </a:xfrm>
          <a:prstGeom prst="rect">
            <a:avLst/>
          </a:prstGeom>
          <a:solidFill>
            <a:srgbClr val="0E2A1A"/>
          </a:solidFill>
        </p:spPr>
        <p:txBody>
          <a:bodyPr/>
          <a:lstStyle/>
          <a:p>
            <a:r>
              <a:rPr lang="en-US" sz="1600" b="0">
                <a:solidFill>
                  <a:srgbClr val="FFFFFF"/>
                </a:solidFill>
              </a:rPr>
              <a:t>Seconds from raw text to case brief</a:t>
            </a:r>
          </a:p>
          <a:p>
            <a:r>
              <a:rPr lang="en-US" sz="1600" b="0">
                <a:solidFill>
                  <a:srgbClr val="FFFFFF"/>
                </a:solidFill>
              </a:rPr>
              <a:t>Automatic entity + relationship extraction</a:t>
            </a:r>
          </a:p>
          <a:p>
            <a:r>
              <a:rPr lang="en-US" sz="1600" b="0">
                <a:solidFill>
                  <a:srgbClr val="FFFFFF"/>
                </a:solidFill>
              </a:rPr>
              <a:t>3 fraud patterns detected automatically</a:t>
            </a:r>
          </a:p>
          <a:p>
            <a:r>
              <a:rPr lang="en-US" sz="1600" b="0">
                <a:solidFill>
                  <a:srgbClr val="FFFFFF"/>
                </a:solidFill>
              </a:rPr>
              <a:t>FIR-ready brief in one click</a:t>
            </a:r>
          </a:p>
          <a:p>
            <a:r>
              <a:rPr lang="en-US" sz="1600" b="0">
                <a:solidFill>
                  <a:srgbClr val="FFFFFF"/>
                </a:solidFill>
              </a:rPr>
              <a:t>Works for any investigator</a:t>
            </a:r>
          </a:p>
        </p:txBody>
      </p:sp>
      <p:sp>
        <p:nvSpPr>
          <p:cNvPr id="100060" name="Stat1"/>
          <p:cNvSpPr txBox="1"/>
          <p:nvPr/>
        </p:nvSpPr>
        <p:spPr>
          <a:xfrm>
            <a:off x="360000" y="3960000"/>
            <a:ext cx="2520000" cy="900000"/>
          </a:xfrm>
          <a:prstGeom prst="rect">
            <a:avLst/>
          </a:prstGeom>
          <a:solidFill>
            <a:srgbClr val="16213E"/>
          </a:solidFill>
        </p:spPr>
        <p:txBody>
          <a:bodyPr/>
          <a:lstStyle/>
          <a:p>
            <a:pPr algn="ctr"/>
            <a:r>
              <a:rPr lang="en-US" sz="1500" b="0">
                <a:solidFill>
                  <a:srgbClr val="FFFFFF"/>
                </a:solidFill>
              </a:rPr>
              <a:t>7</a:t>
            </a:r>
          </a:p>
          <a:p>
            <a:pPr algn="ctr"/>
            <a:r>
              <a:rPr lang="en-US" sz="1500" b="0">
                <a:solidFill>
                  <a:srgbClr val="FFFFFF"/>
                </a:solidFill>
              </a:rPr>
              <a:t>Entity Types</a:t>
            </a:r>
          </a:p>
          <a:p>
            <a:pPr algn="ctr"/>
            <a:r>
              <a:rPr lang="en-US" sz="1500" b="0">
                <a:solidFill>
                  <a:srgbClr val="FFFFFF"/>
                </a:solidFill>
              </a:rPr>
              <a:t>extracted</a:t>
            </a:r>
          </a:p>
        </p:txBody>
      </p:sp>
      <p:sp>
        <p:nvSpPr>
          <p:cNvPr id="100061" name="Stat2"/>
          <p:cNvSpPr txBox="1"/>
          <p:nvPr/>
        </p:nvSpPr>
        <p:spPr>
          <a:xfrm>
            <a:off x="3312000" y="3960000"/>
            <a:ext cx="2520000" cy="900000"/>
          </a:xfrm>
          <a:prstGeom prst="rect">
            <a:avLst/>
          </a:prstGeom>
          <a:solidFill>
            <a:srgbClr val="00B4D8"/>
          </a:solidFill>
        </p:spPr>
        <p:txBody>
          <a:bodyPr/>
          <a:lstStyle/>
          <a:p>
            <a:pPr algn="ctr"/>
            <a:r>
              <a:rPr lang="en-US" sz="1500" b="0">
                <a:solidFill>
                  <a:srgbClr val="1A1A2E"/>
                </a:solidFill>
              </a:rPr>
              <a:t>3</a:t>
            </a:r>
          </a:p>
          <a:p>
            <a:pPr algn="ctr"/>
            <a:r>
              <a:rPr lang="en-US" sz="1500" b="0">
                <a:solidFill>
                  <a:srgbClr val="1A1A2E"/>
                </a:solidFill>
              </a:rPr>
              <a:t>Fraud Patterns</a:t>
            </a:r>
          </a:p>
          <a:p>
            <a:pPr algn="ctr"/>
            <a:r>
              <a:rPr lang="en-US" sz="1500" b="0">
                <a:solidFill>
                  <a:srgbClr val="1A1A2E"/>
                </a:solidFill>
              </a:rPr>
              <a:t>auto-detected</a:t>
            </a:r>
          </a:p>
        </p:txBody>
      </p:sp>
      <p:sp>
        <p:nvSpPr>
          <p:cNvPr id="100062" name="Stat3"/>
          <p:cNvSpPr txBox="1"/>
          <p:nvPr/>
        </p:nvSpPr>
        <p:spPr>
          <a:xfrm>
            <a:off x="6264000" y="3960000"/>
            <a:ext cx="2520000" cy="900000"/>
          </a:xfrm>
          <a:prstGeom prst="rect">
            <a:avLst/>
          </a:prstGeom>
          <a:solidFill>
            <a:srgbClr val="16213E"/>
          </a:solidFill>
        </p:spPr>
        <p:txBody>
          <a:bodyPr/>
          <a:lstStyle/>
          <a:p>
            <a:pPr algn="ctr"/>
            <a:r>
              <a:rPr lang="en-US" sz="1500" b="0">
                <a:solidFill>
                  <a:srgbClr val="FFFFFF"/>
                </a:solidFill>
              </a:rPr>
              <a:t>4</a:t>
            </a:r>
          </a:p>
          <a:p>
            <a:pPr algn="ctr"/>
            <a:r>
              <a:rPr lang="en-US" sz="1500" b="0">
                <a:solidFill>
                  <a:srgbClr val="FFFFFF"/>
                </a:solidFill>
              </a:rPr>
              <a:t>Input Formats</a:t>
            </a:r>
          </a:p>
          <a:p>
            <a:pPr algn="ctr"/>
            <a:r>
              <a:rPr lang="en-US" sz="1500" b="0">
                <a:solidFill>
                  <a:srgbClr val="FFFFFF"/>
                </a:solidFill>
              </a:rPr>
              <a:t>TXT · CSV · JSON · text</a:t>
            </a:r>
          </a:p>
        </p:txBody>
      </p:sp>
      <p:sp>
        <p:nvSpPr>
          <p:cNvPr id="100063" name="Stat4"/>
          <p:cNvSpPr txBox="1"/>
          <p:nvPr/>
        </p:nvSpPr>
        <p:spPr>
          <a:xfrm>
            <a:off x="9180000" y="3960000"/>
            <a:ext cx="2520000" cy="900000"/>
          </a:xfrm>
          <a:prstGeom prst="rect">
            <a:avLst/>
          </a:prstGeom>
          <a:solidFill>
            <a:srgbClr val="16213E"/>
          </a:solidFill>
        </p:spPr>
        <p:txBody>
          <a:bodyPr/>
          <a:lstStyle/>
          <a:p>
            <a:pPr algn="ctr"/>
            <a:r>
              <a:rPr lang="en-US" sz="1500" b="0">
                <a:solidFill>
                  <a:srgbClr val="FFFFFF"/>
                </a:solidFill>
              </a:rPr>
              <a:t>100%</a:t>
            </a:r>
          </a:p>
          <a:p>
            <a:pPr algn="ctr"/>
            <a:r>
              <a:rPr lang="en-US" sz="1500" b="0">
                <a:solidFill>
                  <a:srgbClr val="FFFFFF"/>
                </a:solidFill>
              </a:rPr>
              <a:t>Works offline</a:t>
            </a:r>
          </a:p>
          <a:p>
            <a:pPr algn="ctr"/>
            <a:r>
              <a:rPr lang="en-US" sz="1500" b="0">
                <a:solidFill>
                  <a:srgbClr val="FFFFFF"/>
                </a:solidFill>
              </a:rPr>
              <a:t>(no AI needed)</a:t>
            </a:r>
          </a:p>
        </p:txBody>
      </p:sp>
    </p:spTree>
  </p:cSld>
</p:sld>
</file>

<file path=ppt/slides/slide8.xml><?xml version="1.0" encoding="utf-8"?>
<p:sld xmlns:a="http://schemas.openxmlformats.org/drawingml/2006/main" xmlns:p="http://schemas.openxmlformats.org/presentationml/2006/main">
  <p:cSld>
    <p:bg>
      <p:bgPr>
        <a:solidFill xmlns:a="http://schemas.openxmlformats.org/drawingml/2006/main">
          <a:srgbClr val="0F3460"/>
        </a:solidFill>
      </p:bgPr>
    </p:bg>
    <p:spTree>
      <p:nvGrpSpPr>
        <p:cNvPr id="1" name=""/>
        <p:cNvGrpSpPr/>
        <p:nvPr/>
      </p:nvGrpSpPr>
      <p:grpSpPr/>
      <p:sp>
        <p:nvSpPr>
          <p:cNvPr id="100064" name="SlideLabel"/>
          <p:cNvSpPr txBox="1"/>
          <p:nvPr/>
        </p:nvSpPr>
        <p:spPr>
          <a:xfrm>
            <a:off x="540000" y="288000"/>
            <a:ext cx="3600000" cy="288000"/>
          </a:xfrm>
          <a:prstGeom prst="rect">
            <a:avLst/>
          </a:prstGeom>
          <a:noFill/>
        </p:spPr>
        <p:txBody>
          <a:bodyPr/>
          <a:lstStyle/>
          <a:p>
            <a:r>
              <a:rPr lang="en-US" sz="1300" b="0">
                <a:solidFill>
                  <a:srgbClr val="00B4D8"/>
                </a:solidFill>
              </a:rPr>
              <a:t>08  /  TEAM</a:t>
            </a:r>
          </a:p>
        </p:txBody>
      </p:sp>
      <p:sp>
        <p:nvSpPr>
          <p:cNvPr id="100065" name="Title"/>
          <p:cNvSpPr txBox="1"/>
          <p:nvPr/>
        </p:nvSpPr>
        <p:spPr>
          <a:xfrm>
            <a:off x="540000" y="648000"/>
            <a:ext cx="10800000" cy="540000"/>
          </a:xfrm>
          <a:prstGeom prst="rect">
            <a:avLst/>
          </a:prstGeom>
          <a:noFill/>
        </p:spPr>
        <p:txBody>
          <a:bodyPr/>
          <a:lstStyle/>
          <a:p>
            <a:r>
              <a:rPr lang="en-US" sz="3600" b="1">
                <a:solidFill>
                  <a:srgbClr val="FFFFFF"/>
                </a:solidFill>
              </a:rPr>
              <a:t>Our Team</a:t>
            </a:r>
          </a:p>
        </p:txBody>
      </p:sp>
      <p:sp>
        <p:nvSpPr>
          <p:cNvPr id="100066" name="Member1"/>
          <p:cNvSpPr txBox="1"/>
          <p:nvPr/>
        </p:nvSpPr>
        <p:spPr>
          <a:xfrm>
            <a:off x="360000" y="1440000"/>
            <a:ext cx="3600000" cy="2520000"/>
          </a:xfrm>
          <a:prstGeom prst="rect">
            <a:avLst/>
          </a:prstGeom>
          <a:solidFill>
            <a:srgbClr val="1A4A6E"/>
          </a:solidFill>
        </p:spPr>
        <p:txBody>
          <a:bodyPr/>
          <a:lstStyle/>
          <a:p>
            <a:pPr algn="ctr"/>
            <a:r>
              <a:rPr lang="en-US" sz="1500" b="0">
                <a:solidFill>
                  <a:srgbClr val="FFFFFF"/>
                </a:solidFill>
              </a:rPr>
              <a:t>Priyal Jain</a:t>
            </a:r>
          </a:p>
          <a:p>
            <a:pPr algn="ctr"/>
            <a:r>
              <a:rPr lang="en-US" sz="1500" b="0">
                <a:solidFill>
                  <a:srgbClr val="FFFFFF"/>
                </a:solidFill>
              </a:rPr>
              <a:t>Team Lead</a:t>
            </a:r>
          </a:p>
          <a:p>
            <a:pPr algn="ctr"/>
            <a:r>
              <a:rPr lang="en-US" sz="1500" b="0">
                <a:solidFill>
                  <a:srgbClr val="FFFFFF"/>
                </a:solidFill>
              </a:rPr>
              <a:t/>
            </a:r>
          </a:p>
          <a:p>
            <a:pPr algn="ctr"/>
            <a:r>
              <a:rPr lang="en-US" sz="1500" b="0">
                <a:solidFill>
                  <a:srgbClr val="FFFFFF"/>
                </a:solidFill>
              </a:rPr>
              <a:t>Backend architecture</a:t>
            </a:r>
          </a:p>
          <a:p>
            <a:pPr algn="ctr"/>
            <a:r>
              <a:rPr lang="en-US" sz="1500" b="0">
                <a:solidFill>
                  <a:srgbClr val="FFFFFF"/>
                </a:solidFill>
              </a:rPr>
              <a:t>IBM watsonx.ai integration</a:t>
            </a:r>
          </a:p>
          <a:p>
            <a:pPr algn="ctr"/>
            <a:r>
              <a:rPr lang="en-US" sz="1500" b="0">
                <a:solidFill>
                  <a:srgbClr val="FFFFFF"/>
                </a:solidFill>
              </a:rPr>
              <a:t>API design + service layers</a:t>
            </a:r>
          </a:p>
          <a:p>
            <a:pPr algn="ctr"/>
            <a:r>
              <a:rPr lang="en-US" sz="1500" b="0">
                <a:solidFill>
                  <a:srgbClr val="FFFFFF"/>
                </a:solidFill>
              </a:rPr>
              <a:t>Project coordination</a:t>
            </a:r>
          </a:p>
        </p:txBody>
      </p:sp>
      <p:sp>
        <p:nvSpPr>
          <p:cNvPr id="100067" name="Member2"/>
          <p:cNvSpPr txBox="1"/>
          <p:nvPr/>
        </p:nvSpPr>
        <p:spPr>
          <a:xfrm>
            <a:off x="4500000" y="1440000"/>
            <a:ext cx="3600000" cy="2520000"/>
          </a:xfrm>
          <a:prstGeom prst="rect">
            <a:avLst/>
          </a:prstGeom>
          <a:solidFill>
            <a:srgbClr val="1A4A6E"/>
          </a:solidFill>
        </p:spPr>
        <p:txBody>
          <a:bodyPr/>
          <a:lstStyle/>
          <a:p>
            <a:pPr algn="ctr"/>
            <a:r>
              <a:rPr lang="en-US" sz="1500" b="0">
                <a:solidFill>
                  <a:srgbClr val="FFFFFF"/>
                </a:solidFill>
              </a:rPr>
              <a:t>Aakriti Ghimire</a:t>
            </a:r>
          </a:p>
          <a:p>
            <a:pPr algn="ctr"/>
            <a:r>
              <a:rPr lang="en-US" sz="1500" b="0">
                <a:solidFill>
                  <a:srgbClr val="FFFFFF"/>
                </a:solidFill>
              </a:rPr>
              <a:t>Frontend Engineer</a:t>
            </a:r>
          </a:p>
          <a:p>
            <a:pPr algn="ctr"/>
            <a:r>
              <a:rPr lang="en-US" sz="1500" b="0">
                <a:solidFill>
                  <a:srgbClr val="FFFFFF"/>
                </a:solidFill>
              </a:rPr>
              <a:t/>
            </a:r>
          </a:p>
          <a:p>
            <a:pPr algn="ctr"/>
            <a:r>
              <a:rPr lang="en-US" sz="1500" b="0">
                <a:solidFill>
                  <a:srgbClr val="FFFFFF"/>
                </a:solidFill>
              </a:rPr>
              <a:t>React 18 UI development</a:t>
            </a:r>
          </a:p>
          <a:p>
            <a:pPr algn="ctr"/>
            <a:r>
              <a:rPr lang="en-US" sz="1500" b="0">
                <a:solidFill>
                  <a:srgbClr val="FFFFFF"/>
                </a:solidFill>
              </a:rPr>
              <a:t>React Flow network graph</a:t>
            </a:r>
          </a:p>
          <a:p>
            <a:pPr algn="ctr"/>
            <a:r>
              <a:rPr lang="en-US" sz="1500" b="0">
                <a:solidFill>
                  <a:srgbClr val="FFFFFF"/>
                </a:solidFill>
              </a:rPr>
              <a:t>Entity details panel</a:t>
            </a:r>
          </a:p>
          <a:p>
            <a:pPr algn="ctr"/>
            <a:r>
              <a:rPr lang="en-US" sz="1500" b="0">
                <a:solidFill>
                  <a:srgbClr val="FFFFFF"/>
                </a:solidFill>
              </a:rPr>
              <a:t>Case brief view</a:t>
            </a:r>
          </a:p>
        </p:txBody>
      </p:sp>
      <p:sp>
        <p:nvSpPr>
          <p:cNvPr id="100068" name="Member3"/>
          <p:cNvSpPr txBox="1"/>
          <p:nvPr/>
        </p:nvSpPr>
        <p:spPr>
          <a:xfrm>
            <a:off x="8640000" y="1440000"/>
            <a:ext cx="3600000" cy="2520000"/>
          </a:xfrm>
          <a:prstGeom prst="rect">
            <a:avLst/>
          </a:prstGeom>
          <a:solidFill>
            <a:srgbClr val="1A4A6E"/>
          </a:solidFill>
        </p:spPr>
        <p:txBody>
          <a:bodyPr/>
          <a:lstStyle/>
          <a:p>
            <a:pPr algn="ctr"/>
            <a:r>
              <a:rPr lang="en-US" sz="1500" b="0">
                <a:solidFill>
                  <a:srgbClr val="FFFFFF"/>
                </a:solidFill>
              </a:rPr>
              <a:t>Khushi Ganatra</a:t>
            </a:r>
          </a:p>
          <a:p>
            <a:pPr algn="ctr"/>
            <a:r>
              <a:rPr lang="en-US" sz="1500" b="0">
                <a:solidFill>
                  <a:srgbClr val="FFFFFF"/>
                </a:solidFill>
              </a:rPr>
              <a:t>AI / ML Engineer</a:t>
            </a:r>
          </a:p>
          <a:p>
            <a:pPr algn="ctr"/>
            <a:r>
              <a:rPr lang="en-US" sz="1500" b="0">
                <a:solidFill>
                  <a:srgbClr val="FFFFFF"/>
                </a:solidFill>
              </a:rPr>
              <a:t/>
            </a:r>
          </a:p>
          <a:p>
            <a:pPr algn="ctr"/>
            <a:r>
              <a:rPr lang="en-US" sz="1500" b="0">
                <a:solidFill>
                  <a:srgbClr val="FFFFFF"/>
                </a:solidFill>
              </a:rPr>
              <a:t>Entity extraction logic</a:t>
            </a:r>
          </a:p>
          <a:p>
            <a:pPr algn="ctr"/>
            <a:r>
              <a:rPr lang="en-US" sz="1500" b="0">
                <a:solidFill>
                  <a:srgbClr val="FFFFFF"/>
                </a:solidFill>
              </a:rPr>
              <a:t>Relationship mapping</a:t>
            </a:r>
          </a:p>
          <a:p>
            <a:pPr algn="ctr"/>
            <a:r>
              <a:rPr lang="en-US" sz="1500" b="0">
                <a:solidFill>
                  <a:srgbClr val="FFFFFF"/>
                </a:solidFill>
              </a:rPr>
              <a:t>Fraud pattern detection</a:t>
            </a:r>
          </a:p>
          <a:p>
            <a:pPr algn="ctr"/>
            <a:r>
              <a:rPr lang="en-US" sz="1500" b="0">
                <a:solidFill>
                  <a:srgbClr val="FFFFFF"/>
                </a:solidFill>
              </a:rPr>
              <a:t>pytest test suite</a:t>
            </a:r>
          </a:p>
        </p:txBody>
      </p:sp>
      <p:sp>
        <p:nvSpPr>
          <p:cNvPr id="100069" name="Tagline"/>
          <p:cNvSpPr txBox="1"/>
          <p:nvPr/>
        </p:nvSpPr>
        <p:spPr>
          <a:xfrm>
            <a:off x="540000" y="4248000"/>
            <a:ext cx="10800000" cy="324000"/>
          </a:xfrm>
          <a:prstGeom prst="rect">
            <a:avLst/>
          </a:prstGeom>
          <a:noFill/>
        </p:spPr>
        <p:txBody>
          <a:bodyPr/>
          <a:lstStyle/>
          <a:p>
            <a:pPr algn="ctr"/>
            <a:r>
              <a:rPr lang="en-US" sz="1500" b="0">
                <a:solidFill>
                  <a:srgbClr val="00B4D8"/>
                </a:solidFill>
              </a:rPr>
              <a:t>Built end-to-end with IBM Bob  ·  Powered by IBM watsonx.ai</a:t>
            </a:r>
          </a:p>
        </p:txBody>
      </p:sp>
      <p:sp>
        <p:nvSpPr>
          <p:cNvPr id="100070" name="Footer"/>
          <p:cNvSpPr txBox="1"/>
          <p:nvPr/>
        </p:nvSpPr>
        <p:spPr>
          <a:xfrm>
            <a:off x="540000" y="4680000"/>
            <a:ext cx="10800000" cy="252000"/>
          </a:xfrm>
          <a:prstGeom prst="rect">
            <a:avLst/>
          </a:prstGeom>
          <a:noFill/>
        </p:spPr>
        <p:txBody>
          <a:bodyPr/>
          <a:lstStyle/>
          <a:p>
            <a:pPr algn="ctr"/>
            <a:r>
              <a:rPr lang="en-US" sz="1200" b="0">
                <a:solidFill>
                  <a:srgbClr val="57606A"/>
                </a:solidFill>
              </a:rPr>
              <a:t>IBM Bob AI Hackathon  ·  AI Track  ·  Team TriByte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2026-09-28T09:58:49Z</dcterms:created>
  <cp:lastModifiedBy>OfficeCLI</cp:lastModifiedBy>
  <dcterms:modified xsi:type="dcterms:W3CDTF">2026-09-28T09:58:49Z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1.0.152</vt:lpwstr>
  </op:property>
  <op:property fmtid="{D5CDD505-2E9C-101B-9397-08002B2CF9AE}" pid="3" name="OfficeCLI.LastModified">
    <vt:lpwstr xmlns:vt="http://schemas.openxmlformats.org/officeDocument/2006/docPropsVTypes">2026-09-28T10:02:53Z</vt:lpwstr>
  </op:property>
</op:Properties>
</file>